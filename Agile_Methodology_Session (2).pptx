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image" Target="../media/image-8-15.png"/><Relationship Id="rId16" Type="http://schemas.openxmlformats.org/officeDocument/2006/relationships/image" Target="../media/image-8-16.png"/><Relationship Id="rId17" Type="http://schemas.openxmlformats.org/officeDocument/2006/relationships/image" Target="../media/image-8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image" Target="../media/image-16-8.png"/><Relationship Id="rId9" Type="http://schemas.openxmlformats.org/officeDocument/2006/relationships/image" Target="../media/image-16-9.png"/><Relationship Id="rId10" Type="http://schemas.openxmlformats.org/officeDocument/2006/relationships/image" Target="../media/image-16-10.png"/><Relationship Id="rId11" Type="http://schemas.openxmlformats.org/officeDocument/2006/relationships/image" Target="../media/image-16-11.png"/><Relationship Id="rId12" Type="http://schemas.openxmlformats.org/officeDocument/2006/relationships/image" Target="../media/image-16-12.png"/><Relationship Id="rId13" Type="http://schemas.openxmlformats.org/officeDocument/2006/relationships/image" Target="../media/image-16-13.png"/><Relationship Id="rId14" Type="http://schemas.openxmlformats.org/officeDocument/2006/relationships/image" Target="../media/image-16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4206240"/>
            <a:ext cx="4572000" cy="45720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554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1-HOUR SESSION FOR STUDENTS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87452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Agile Methodology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22960" y="297180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software teams really work — from Waterfall to Sprints,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Scrum, Kanban and real-time delivery.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160520"/>
            <a:ext cx="1298448" cy="384048"/>
          </a:xfrm>
          <a:prstGeom prst="roundRect">
            <a:avLst>
              <a:gd name="adj" fmla="val 19048"/>
            </a:avLst>
          </a:prstGeom>
          <a:solidFill>
            <a:srgbClr val="1C305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160520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Agile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86000" y="4160520"/>
            <a:ext cx="2427732" cy="384048"/>
          </a:xfrm>
          <a:prstGeom prst="roundRect">
            <a:avLst>
              <a:gd name="adj" fmla="val 19048"/>
            </a:avLst>
          </a:prstGeom>
          <a:solidFill>
            <a:srgbClr val="1C305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0" y="4160520"/>
            <a:ext cx="24277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Values &amp; Principles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78324" y="4160520"/>
            <a:ext cx="1559052" cy="384048"/>
          </a:xfrm>
          <a:prstGeom prst="roundRect">
            <a:avLst>
              <a:gd name="adj" fmla="val 19048"/>
            </a:avLst>
          </a:prstGeom>
          <a:solidFill>
            <a:srgbClr val="1C305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78324" y="4160520"/>
            <a:ext cx="15590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Workflow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601968" y="4160520"/>
            <a:ext cx="1472184" cy="384048"/>
          </a:xfrm>
          <a:prstGeom prst="roundRect">
            <a:avLst>
              <a:gd name="adj" fmla="val 19048"/>
            </a:avLst>
          </a:prstGeom>
          <a:solidFill>
            <a:srgbClr val="1C305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01968" y="4160520"/>
            <a:ext cx="1472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&amp; Kanban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238744" y="4160520"/>
            <a:ext cx="1472184" cy="384048"/>
          </a:xfrm>
          <a:prstGeom prst="roundRect">
            <a:avLst>
              <a:gd name="adj" fmla="val 19048"/>
            </a:avLst>
          </a:prstGeom>
          <a:solidFill>
            <a:srgbClr val="1C305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38744" y="4160520"/>
            <a:ext cx="1472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Prep</a:t>
            </a:r>
            <a:endParaRPr lang="en-US" sz="11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0" y="4892040"/>
            <a:ext cx="457200" cy="45720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22960" y="59893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60 minutes   |   Audience: Beginners / College Students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356" y="491764"/>
            <a:ext cx="351495" cy="35149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80160" y="56692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Plan — 60 Minutes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417320"/>
            <a:ext cx="11064240" cy="530352"/>
          </a:xfrm>
          <a:prstGeom prst="roundRect">
            <a:avLst>
              <a:gd name="adj" fmla="val 10345"/>
            </a:avLst>
          </a:prstGeom>
          <a:solidFill>
            <a:srgbClr val="F2F6F8"/>
          </a:solidFill>
          <a:ln/>
        </p:spPr>
      </p:sp>
      <p:sp>
        <p:nvSpPr>
          <p:cNvPr id="8" name="Shape 5"/>
          <p:cNvSpPr/>
          <p:nvPr/>
        </p:nvSpPr>
        <p:spPr>
          <a:xfrm>
            <a:off x="713232" y="1490472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1581912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80160" y="1417320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57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2468880" y="1417320"/>
            <a:ext cx="8869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548640" y="2075688"/>
            <a:ext cx="1106424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/>
        </p:spPr>
      </p:sp>
      <p:sp>
        <p:nvSpPr>
          <p:cNvPr id="13" name="Shape 9"/>
          <p:cNvSpPr/>
          <p:nvPr/>
        </p:nvSpPr>
        <p:spPr>
          <a:xfrm>
            <a:off x="713232" y="214884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2240280"/>
            <a:ext cx="201168" cy="20116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80160" y="2075688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57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2468880" y="2075688"/>
            <a:ext cx="8869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Agile (Traditional Development)</a:t>
            </a:r>
            <a:endParaRPr lang="en-US" sz="1500" dirty="0"/>
          </a:p>
        </p:txBody>
      </p:sp>
      <p:sp>
        <p:nvSpPr>
          <p:cNvPr id="17" name="Shape 12"/>
          <p:cNvSpPr/>
          <p:nvPr/>
        </p:nvSpPr>
        <p:spPr>
          <a:xfrm>
            <a:off x="548640" y="2734056"/>
            <a:ext cx="11064240" cy="530352"/>
          </a:xfrm>
          <a:prstGeom prst="roundRect">
            <a:avLst>
              <a:gd name="adj" fmla="val 10345"/>
            </a:avLst>
          </a:prstGeom>
          <a:solidFill>
            <a:srgbClr val="F2F6F8"/>
          </a:solidFill>
          <a:ln/>
        </p:spPr>
      </p:sp>
      <p:sp>
        <p:nvSpPr>
          <p:cNvPr id="18" name="Shape 13"/>
          <p:cNvSpPr/>
          <p:nvPr/>
        </p:nvSpPr>
        <p:spPr>
          <a:xfrm>
            <a:off x="713232" y="2807208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2898648"/>
            <a:ext cx="201168" cy="20116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280160" y="2734056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57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2468880" y="2734056"/>
            <a:ext cx="8869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Agile?</a:t>
            </a:r>
            <a:endParaRPr lang="en-US" sz="1500" dirty="0"/>
          </a:p>
        </p:txBody>
      </p:sp>
      <p:sp>
        <p:nvSpPr>
          <p:cNvPr id="22" name="Shape 16"/>
          <p:cNvSpPr/>
          <p:nvPr/>
        </p:nvSpPr>
        <p:spPr>
          <a:xfrm>
            <a:off x="548640" y="3392424"/>
            <a:ext cx="1106424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/>
        </p:spPr>
      </p:sp>
      <p:sp>
        <p:nvSpPr>
          <p:cNvPr id="23" name="Shape 17"/>
          <p:cNvSpPr/>
          <p:nvPr/>
        </p:nvSpPr>
        <p:spPr>
          <a:xfrm>
            <a:off x="713232" y="3465576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3557016"/>
            <a:ext cx="201168" cy="20116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280160" y="3392424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57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400" dirty="0"/>
          </a:p>
        </p:txBody>
      </p:sp>
      <p:sp>
        <p:nvSpPr>
          <p:cNvPr id="26" name="Text 19"/>
          <p:cNvSpPr/>
          <p:nvPr/>
        </p:nvSpPr>
        <p:spPr>
          <a:xfrm>
            <a:off x="2468880" y="3392424"/>
            <a:ext cx="8869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Principles &amp; Values</a:t>
            </a:r>
            <a:endParaRPr lang="en-US" sz="1500" dirty="0"/>
          </a:p>
        </p:txBody>
      </p:sp>
      <p:sp>
        <p:nvSpPr>
          <p:cNvPr id="27" name="Shape 20"/>
          <p:cNvSpPr/>
          <p:nvPr/>
        </p:nvSpPr>
        <p:spPr>
          <a:xfrm>
            <a:off x="548640" y="4050792"/>
            <a:ext cx="11064240" cy="530352"/>
          </a:xfrm>
          <a:prstGeom prst="roundRect">
            <a:avLst>
              <a:gd name="adj" fmla="val 10345"/>
            </a:avLst>
          </a:prstGeom>
          <a:solidFill>
            <a:srgbClr val="F2F6F8"/>
          </a:solidFill>
          <a:ln/>
        </p:spPr>
      </p:sp>
      <p:sp>
        <p:nvSpPr>
          <p:cNvPr id="28" name="Shape 21"/>
          <p:cNvSpPr/>
          <p:nvPr/>
        </p:nvSpPr>
        <p:spPr>
          <a:xfrm>
            <a:off x="713232" y="4123944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" y="4215384"/>
            <a:ext cx="201168" cy="201168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1280160" y="4050792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57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400" dirty="0"/>
          </a:p>
        </p:txBody>
      </p:sp>
      <p:sp>
        <p:nvSpPr>
          <p:cNvPr id="31" name="Text 23"/>
          <p:cNvSpPr/>
          <p:nvPr/>
        </p:nvSpPr>
        <p:spPr>
          <a:xfrm>
            <a:off x="2468880" y="4050792"/>
            <a:ext cx="8869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Frameworks — Scrum, Kanban, XP, Lean</a:t>
            </a:r>
            <a:endParaRPr lang="en-US" sz="1500" dirty="0"/>
          </a:p>
        </p:txBody>
      </p:sp>
      <p:sp>
        <p:nvSpPr>
          <p:cNvPr id="32" name="Shape 24"/>
          <p:cNvSpPr/>
          <p:nvPr/>
        </p:nvSpPr>
        <p:spPr>
          <a:xfrm>
            <a:off x="548640" y="4709160"/>
            <a:ext cx="1106424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/>
        </p:spPr>
      </p:sp>
      <p:sp>
        <p:nvSpPr>
          <p:cNvPr id="33" name="Shape 25"/>
          <p:cNvSpPr/>
          <p:nvPr/>
        </p:nvSpPr>
        <p:spPr>
          <a:xfrm>
            <a:off x="713232" y="4782312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" y="4873752"/>
            <a:ext cx="201168" cy="201168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1280160" y="4709160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57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400" dirty="0"/>
          </a:p>
        </p:txBody>
      </p:sp>
      <p:sp>
        <p:nvSpPr>
          <p:cNvPr id="36" name="Text 27"/>
          <p:cNvSpPr/>
          <p:nvPr/>
        </p:nvSpPr>
        <p:spPr>
          <a:xfrm>
            <a:off x="2468880" y="4709160"/>
            <a:ext cx="8869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Agile &amp; Sprint Workflow</a:t>
            </a:r>
            <a:endParaRPr lang="en-US" sz="1500" dirty="0"/>
          </a:p>
        </p:txBody>
      </p:sp>
      <p:sp>
        <p:nvSpPr>
          <p:cNvPr id="37" name="Shape 28"/>
          <p:cNvSpPr/>
          <p:nvPr/>
        </p:nvSpPr>
        <p:spPr>
          <a:xfrm>
            <a:off x="548640" y="5367528"/>
            <a:ext cx="11064240" cy="530352"/>
          </a:xfrm>
          <a:prstGeom prst="roundRect">
            <a:avLst>
              <a:gd name="adj" fmla="val 10345"/>
            </a:avLst>
          </a:prstGeom>
          <a:solidFill>
            <a:srgbClr val="F2F6F8"/>
          </a:solidFill>
          <a:ln/>
        </p:spPr>
      </p:sp>
      <p:sp>
        <p:nvSpPr>
          <p:cNvPr id="38" name="Shape 29"/>
          <p:cNvSpPr/>
          <p:nvPr/>
        </p:nvSpPr>
        <p:spPr>
          <a:xfrm>
            <a:off x="713232" y="544068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4672" y="5532120"/>
            <a:ext cx="201168" cy="201168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1280160" y="5367528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57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400" dirty="0"/>
          </a:p>
        </p:txBody>
      </p:sp>
      <p:sp>
        <p:nvSpPr>
          <p:cNvPr id="41" name="Text 31"/>
          <p:cNvSpPr/>
          <p:nvPr/>
        </p:nvSpPr>
        <p:spPr>
          <a:xfrm>
            <a:off x="2468880" y="5367528"/>
            <a:ext cx="8869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Questions &amp; Summary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356" y="491764"/>
            <a:ext cx="351495" cy="35149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AGILE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80160" y="56692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Traditional Waterfall Model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891540" y="1691640"/>
            <a:ext cx="1627632" cy="914400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2700000">
              <a:srgbClr val="0B1626">
                <a:alpha val="16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964692" y="17465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37260" y="1947672"/>
            <a:ext cx="15361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2500884" y="2066544"/>
            <a:ext cx="292608" cy="164592"/>
          </a:xfrm>
          <a:prstGeom prst="rightArrow">
            <a:avLst/>
          </a:prstGeom>
          <a:solidFill>
            <a:srgbClr val="5C6B7A"/>
          </a:solidFill>
          <a:ln/>
        </p:spPr>
      </p:sp>
      <p:sp>
        <p:nvSpPr>
          <p:cNvPr id="11" name="Shape 8"/>
          <p:cNvSpPr/>
          <p:nvPr/>
        </p:nvSpPr>
        <p:spPr>
          <a:xfrm>
            <a:off x="2647188" y="1691640"/>
            <a:ext cx="1627632" cy="914400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2700000">
              <a:srgbClr val="0B1626">
                <a:alpha val="16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2720340" y="17465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692908" y="1947672"/>
            <a:ext cx="15361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256532" y="2066544"/>
            <a:ext cx="292608" cy="164592"/>
          </a:xfrm>
          <a:prstGeom prst="rightArrow">
            <a:avLst/>
          </a:prstGeom>
          <a:solidFill>
            <a:srgbClr val="5C6B7A"/>
          </a:solidFill>
          <a:ln/>
        </p:spPr>
      </p:sp>
      <p:sp>
        <p:nvSpPr>
          <p:cNvPr id="15" name="Shape 12"/>
          <p:cNvSpPr/>
          <p:nvPr/>
        </p:nvSpPr>
        <p:spPr>
          <a:xfrm>
            <a:off x="4402836" y="1691640"/>
            <a:ext cx="1627632" cy="914400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2700000">
              <a:srgbClr val="0B1626">
                <a:alpha val="16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4475988" y="17465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448556" y="1947672"/>
            <a:ext cx="15361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012180" y="2066544"/>
            <a:ext cx="292608" cy="164592"/>
          </a:xfrm>
          <a:prstGeom prst="rightArrow">
            <a:avLst/>
          </a:prstGeom>
          <a:solidFill>
            <a:srgbClr val="5C6B7A"/>
          </a:solidFill>
          <a:ln/>
        </p:spPr>
      </p:sp>
      <p:sp>
        <p:nvSpPr>
          <p:cNvPr id="19" name="Shape 16"/>
          <p:cNvSpPr/>
          <p:nvPr/>
        </p:nvSpPr>
        <p:spPr>
          <a:xfrm>
            <a:off x="6158484" y="1691640"/>
            <a:ext cx="1627632" cy="914400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2700000">
              <a:srgbClr val="0B1626">
                <a:alpha val="16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231636" y="17465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204204" y="1947672"/>
            <a:ext cx="15361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7767828" y="2066544"/>
            <a:ext cx="292608" cy="164592"/>
          </a:xfrm>
          <a:prstGeom prst="rightArrow">
            <a:avLst/>
          </a:prstGeom>
          <a:solidFill>
            <a:srgbClr val="5C6B7A"/>
          </a:solidFill>
          <a:ln/>
        </p:spPr>
      </p:sp>
      <p:sp>
        <p:nvSpPr>
          <p:cNvPr id="23" name="Shape 20"/>
          <p:cNvSpPr/>
          <p:nvPr/>
        </p:nvSpPr>
        <p:spPr>
          <a:xfrm>
            <a:off x="7914132" y="1691640"/>
            <a:ext cx="1627632" cy="914400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2700000">
              <a:srgbClr val="0B1626">
                <a:alpha val="16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7987284" y="17465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7959852" y="1947672"/>
            <a:ext cx="15361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9523476" y="2066544"/>
            <a:ext cx="292608" cy="164592"/>
          </a:xfrm>
          <a:prstGeom prst="rightArrow">
            <a:avLst/>
          </a:prstGeom>
          <a:solidFill>
            <a:srgbClr val="5C6B7A"/>
          </a:solidFill>
          <a:ln/>
        </p:spPr>
      </p:sp>
      <p:sp>
        <p:nvSpPr>
          <p:cNvPr id="27" name="Shape 24"/>
          <p:cNvSpPr/>
          <p:nvPr/>
        </p:nvSpPr>
        <p:spPr>
          <a:xfrm>
            <a:off x="9669780" y="1691640"/>
            <a:ext cx="1627632" cy="914400"/>
          </a:xfrm>
          <a:prstGeom prst="roundRect">
            <a:avLst>
              <a:gd name="adj" fmla="val 8000"/>
            </a:avLst>
          </a:prstGeom>
          <a:solidFill>
            <a:srgbClr val="E8A33D"/>
          </a:solidFill>
          <a:ln/>
          <a:effectLst>
            <a:outerShdw sx="100000" sy="100000" kx="0" ky="0" algn="bl" rotWithShape="0" blurRad="101600" dist="38100" dir="2700000">
              <a:srgbClr val="0B1626">
                <a:alpha val="16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9742932" y="17465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9715500" y="1947672"/>
            <a:ext cx="15361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891540" y="2834640"/>
            <a:ext cx="10405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direction only — each phase must finish before the next begins. No going back.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640080" y="3520440"/>
            <a:ext cx="10881360" cy="2468880"/>
          </a:xfrm>
          <a:prstGeom prst="roundRect">
            <a:avLst>
              <a:gd name="adj" fmla="val 3704"/>
            </a:avLst>
          </a:prstGeom>
          <a:solidFill>
            <a:srgbClr val="F2F6F8"/>
          </a:solidFill>
          <a:ln/>
        </p:spPr>
      </p:sp>
      <p:sp>
        <p:nvSpPr>
          <p:cNvPr id="32" name="Text 29"/>
          <p:cNvSpPr/>
          <p:nvPr/>
        </p:nvSpPr>
        <p:spPr>
          <a:xfrm>
            <a:off x="914400" y="37033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Example: Building a House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914400" y="4114800"/>
            <a:ext cx="5029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builder says: </a:t>
            </a:r>
            <a:pPr indent="0" marL="0">
              <a:spcAft>
                <a:spcPts val="600"/>
              </a:spcAft>
              <a:buNone/>
            </a:pPr>
            <a:r>
              <a:rPr lang="en-US" sz="1350" i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“I’ll show you the house after 1 year.”</a:t>
            </a:r>
            <a:endParaRPr lang="en-US" sz="13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updates. No changes allowed. If the kitchen is wrong — too late.</a:t>
            </a:r>
            <a:endParaRPr lang="en-US" sz="13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worked exactly like this under Waterfall.</a:t>
            </a:r>
            <a:endParaRPr lang="en-US" sz="1350" dirty="0"/>
          </a:p>
        </p:txBody>
      </p:sp>
      <p:sp>
        <p:nvSpPr>
          <p:cNvPr id="34" name="Text 31"/>
          <p:cNvSpPr/>
          <p:nvPr/>
        </p:nvSpPr>
        <p:spPr>
          <a:xfrm>
            <a:off x="6309360" y="3703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Problems It Caused</a:t>
            </a:r>
            <a:endParaRPr lang="en-US" sz="1600" dirty="0"/>
          </a:p>
        </p:txBody>
      </p:sp>
      <p:pic>
        <p:nvPicPr>
          <p:cNvPr id="3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4160520"/>
            <a:ext cx="201168" cy="201168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6629400" y="4105656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waits months</a:t>
            </a:r>
            <a:endParaRPr lang="en-US" sz="1300" dirty="0"/>
          </a:p>
        </p:txBody>
      </p:sp>
      <p:pic>
        <p:nvPicPr>
          <p:cNvPr id="3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4507992"/>
            <a:ext cx="201168" cy="201168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6629400" y="4453128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feedback loop</a:t>
            </a:r>
            <a:endParaRPr lang="en-US" sz="1300" dirty="0"/>
          </a:p>
        </p:txBody>
      </p:sp>
      <p:pic>
        <p:nvPicPr>
          <p:cNvPr id="3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4855464"/>
            <a:ext cx="201168" cy="201168"/>
          </a:xfrm>
          <a:prstGeom prst="rect">
            <a:avLst/>
          </a:prstGeom>
        </p:spPr>
      </p:pic>
      <p:sp>
        <p:nvSpPr>
          <p:cNvPr id="40" name="Text 34"/>
          <p:cNvSpPr/>
          <p:nvPr/>
        </p:nvSpPr>
        <p:spPr>
          <a:xfrm>
            <a:off x="6629400" y="480060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 late changes</a:t>
            </a:r>
            <a:endParaRPr lang="en-US" sz="1300" dirty="0"/>
          </a:p>
        </p:txBody>
      </p:sp>
      <p:pic>
        <p:nvPicPr>
          <p:cNvPr id="4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5202936"/>
            <a:ext cx="201168" cy="201168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6629400" y="514807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 found too late</a:t>
            </a:r>
            <a:endParaRPr lang="en-US" sz="1300" dirty="0"/>
          </a:p>
        </p:txBody>
      </p:sp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5550408"/>
            <a:ext cx="201168" cy="201168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6629400" y="5495544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project failure risk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356" y="491764"/>
            <a:ext cx="351495" cy="35149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TURNING POINT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80160" y="56692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Companies Needed Agile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40080" y="1417320"/>
            <a:ext cx="5120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i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need a blue Login button.”</a:t>
            </a:r>
            <a:endParaRPr lang="en-US" sz="13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delivers after 8 months. Customer now wants green.</a:t>
            </a:r>
            <a:endParaRPr lang="en-US" sz="13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entire design changes — at huge cost.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40080" y="3108960"/>
            <a:ext cx="5120640" cy="2880360"/>
          </a:xfrm>
          <a:prstGeom prst="roundRect">
            <a:avLst>
              <a:gd name="adj" fmla="val 3175"/>
            </a:avLst>
          </a:prstGeom>
          <a:solidFill>
            <a:srgbClr val="12233A"/>
          </a:solidFill>
          <a:ln/>
          <a:effectLst>
            <a:outerShdw sx="100000" sy="100000" kx="0" ky="0" algn="bl" rotWithShape="0" blurRad="101600" dist="38100" dir="2700000">
              <a:srgbClr val="0B1626">
                <a:alpha val="16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914400" y="3291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Businesses Wanted</a:t>
            </a:r>
            <a:endParaRPr lang="en-US" sz="16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749040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61872" y="3694176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delivery</a:t>
            </a:r>
            <a:endParaRPr lang="en-US" sz="14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160520"/>
            <a:ext cx="237744" cy="2377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61872" y="4105656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customer feedback</a:t>
            </a:r>
            <a:endParaRPr lang="en-US" sz="14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572000"/>
            <a:ext cx="237744" cy="23774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61872" y="4517136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project risk</a:t>
            </a:r>
            <a:endParaRPr lang="en-US" sz="14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983480"/>
            <a:ext cx="237744" cy="237744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261872" y="4928616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software quality</a:t>
            </a:r>
            <a:endParaRPr lang="en-US" sz="14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5394960"/>
            <a:ext cx="237744" cy="237744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261872" y="5340096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improvement</a:t>
            </a:r>
            <a:endParaRPr lang="en-US" sz="1400" dirty="0"/>
          </a:p>
        </p:txBody>
      </p:sp>
      <p:sp>
        <p:nvSpPr>
          <p:cNvPr id="20" name="Shape 12"/>
          <p:cNvSpPr/>
          <p:nvPr/>
        </p:nvSpPr>
        <p:spPr>
          <a:xfrm>
            <a:off x="6035040" y="1417320"/>
            <a:ext cx="5486400" cy="4526280"/>
          </a:xfrm>
          <a:prstGeom prst="roundRect">
            <a:avLst>
              <a:gd name="adj" fmla="val 2020"/>
            </a:avLst>
          </a:prstGeom>
          <a:solidFill>
            <a:srgbClr val="F2F6F8"/>
          </a:solidFill>
          <a:ln/>
        </p:spPr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5080" y="1737360"/>
            <a:ext cx="502920" cy="50292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6995160" y="17830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Thus, Agile Was Born.</a:t>
            </a:r>
            <a:endParaRPr lang="en-US" sz="2200" dirty="0"/>
          </a:p>
        </p:txBody>
      </p:sp>
      <p:sp>
        <p:nvSpPr>
          <p:cNvPr id="23" name="Text 14"/>
          <p:cNvSpPr/>
          <p:nvPr/>
        </p:nvSpPr>
        <p:spPr>
          <a:xfrm>
            <a:off x="6355080" y="242316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response to a broken model — designed to deliver value early, adapt to change, and keep the customer in the loop from day one.</a:t>
            </a:r>
            <a:endParaRPr lang="en-US" sz="1350" dirty="0"/>
          </a:p>
        </p:txBody>
      </p:sp>
      <p:sp>
        <p:nvSpPr>
          <p:cNvPr id="24" name="Shape 15"/>
          <p:cNvSpPr/>
          <p:nvPr/>
        </p:nvSpPr>
        <p:spPr>
          <a:xfrm>
            <a:off x="6355080" y="3337560"/>
            <a:ext cx="4846320" cy="0"/>
          </a:xfrm>
          <a:prstGeom prst="line">
            <a:avLst/>
          </a:prstGeom>
          <a:noFill/>
          <a:ln w="12700">
            <a:solidFill>
              <a:srgbClr val="D6DEE4"/>
            </a:solidFill>
            <a:prstDash val="solid"/>
          </a:ln>
        </p:spPr>
      </p:sp>
      <p:sp>
        <p:nvSpPr>
          <p:cNvPr id="25" name="Text 16"/>
          <p:cNvSpPr/>
          <p:nvPr/>
        </p:nvSpPr>
        <p:spPr>
          <a:xfrm>
            <a:off x="6355080" y="35204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2001 — Snowbird, Utah</a:t>
            </a:r>
            <a:endParaRPr lang="en-US" sz="1300" dirty="0"/>
          </a:p>
        </p:txBody>
      </p:sp>
      <p:sp>
        <p:nvSpPr>
          <p:cNvPr id="26" name="Text 17"/>
          <p:cNvSpPr/>
          <p:nvPr/>
        </p:nvSpPr>
        <p:spPr>
          <a:xfrm>
            <a:off x="6355080" y="384048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software experts met and created the Agile Manifesto — a shared commitment to deliver software faster and better.</a:t>
            </a:r>
            <a:endParaRPr lang="en-US" sz="1350" dirty="0"/>
          </a:p>
        </p:txBody>
      </p:sp>
      <p:sp>
        <p:nvSpPr>
          <p:cNvPr id="27" name="Text 18"/>
          <p:cNvSpPr/>
          <p:nvPr/>
        </p:nvSpPr>
        <p:spPr>
          <a:xfrm>
            <a:off x="6355080" y="480060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“Deliver every 2 weeks. Let the customer keep checking. Let changes happen anytime.”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356" y="491764"/>
            <a:ext cx="351495" cy="35149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80160" y="56692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Agile?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40080" y="141732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2700000">
              <a:srgbClr val="0B1626">
                <a:alpha val="16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960120" y="1554480"/>
            <a:ext cx="10241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Agile is an iterative software development methodology where software is built in small pieces and delivered frequently — with continuous customer feedback.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40080" y="288036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delivering everything after 1 year — Agile delivers every 2 weeks. The customer keeps checking in, and changes happen anytime.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40080" y="3886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Example: Building a Movie Recommendation Feature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40080" y="4297680"/>
            <a:ext cx="256032" cy="25603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42976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005840" y="4270248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 — Login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40080" y="4681728"/>
            <a:ext cx="256032" cy="25603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46817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005840" y="4654296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 — Search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40080" y="5065776"/>
            <a:ext cx="256032" cy="25603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" y="50657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005840" y="5038344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 — Watchlist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40080" y="5449824"/>
            <a:ext cx="256032" cy="25603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1" name="Text 18"/>
          <p:cNvSpPr/>
          <p:nvPr/>
        </p:nvSpPr>
        <p:spPr>
          <a:xfrm>
            <a:off x="640080" y="54498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1005840" y="5422392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4 — Recommendation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40080" y="5833872"/>
            <a:ext cx="256032" cy="25603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4" name="Text 21"/>
          <p:cNvSpPr/>
          <p:nvPr/>
        </p:nvSpPr>
        <p:spPr>
          <a:xfrm>
            <a:off x="640080" y="58338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1005840" y="580644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5 — Payment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640080" y="62636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start using the app much earlier — they don’t wait for the entire feature set.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6126480" y="2834640"/>
            <a:ext cx="5394960" cy="3566160"/>
          </a:xfrm>
          <a:prstGeom prst="roundRect">
            <a:avLst>
              <a:gd name="adj" fmla="val 2564"/>
            </a:avLst>
          </a:prstGeom>
          <a:solidFill>
            <a:srgbClr val="F2F6F8"/>
          </a:solidFill>
          <a:ln/>
        </p:spPr>
      </p:sp>
      <p:sp>
        <p:nvSpPr>
          <p:cNvPr id="28" name="Text 25"/>
          <p:cNvSpPr/>
          <p:nvPr/>
        </p:nvSpPr>
        <p:spPr>
          <a:xfrm>
            <a:off x="6400800" y="30175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Waterfall vs Agile, in one line</a:t>
            </a:r>
            <a:endParaRPr lang="en-US" sz="1500" dirty="0"/>
          </a:p>
        </p:txBody>
      </p:sp>
      <p:sp>
        <p:nvSpPr>
          <p:cNvPr id="29" name="Shape 26"/>
          <p:cNvSpPr/>
          <p:nvPr/>
        </p:nvSpPr>
        <p:spPr>
          <a:xfrm>
            <a:off x="6400800" y="3520440"/>
            <a:ext cx="4846320" cy="18288"/>
          </a:xfrm>
          <a:prstGeom prst="rect">
            <a:avLst/>
          </a:prstGeom>
          <a:solidFill>
            <a:srgbClr val="D6DEE4"/>
          </a:solidFill>
          <a:ln/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3703320"/>
            <a:ext cx="274320" cy="274320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6766560" y="367588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Waterfall: build the whole house, show it after a year.</a:t>
            </a:r>
            <a:endParaRPr lang="en-US" sz="1300" dirty="0"/>
          </a:p>
        </p:txBody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4251960"/>
            <a:ext cx="274320" cy="274320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6766560" y="422452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Agile: build room by room, let the family move in and give feedback.</a:t>
            </a:r>
            <a:endParaRPr lang="en-US" sz="1300" dirty="0"/>
          </a:p>
        </p:txBody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4892040"/>
            <a:ext cx="274320" cy="274320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6766560" y="486460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fewer surprises, lower risk, happier customers.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356" y="491764"/>
            <a:ext cx="351495" cy="35149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DIAGRAM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80160" y="56692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Agile Works in Real Time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010412" y="1508760"/>
            <a:ext cx="1572768" cy="1051560"/>
          </a:xfrm>
          <a:prstGeom prst="roundRect">
            <a:avLst>
              <a:gd name="adj" fmla="val 8696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2700000">
              <a:srgbClr val="0B1626">
                <a:alpha val="16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0492" y="1636776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56132" y="1965960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2564892" y="1961388"/>
            <a:ext cx="329184" cy="146304"/>
          </a:xfrm>
          <a:prstGeom prst="rightArrow">
            <a:avLst/>
          </a:prstGeom>
          <a:solidFill>
            <a:srgbClr val="5C6B7A"/>
          </a:solidFill>
          <a:ln/>
        </p:spPr>
      </p:sp>
      <p:sp>
        <p:nvSpPr>
          <p:cNvPr id="11" name="Shape 7"/>
          <p:cNvSpPr/>
          <p:nvPr/>
        </p:nvSpPr>
        <p:spPr>
          <a:xfrm>
            <a:off x="2729484" y="1508760"/>
            <a:ext cx="1572768" cy="1051560"/>
          </a:xfrm>
          <a:prstGeom prst="roundRect">
            <a:avLst>
              <a:gd name="adj" fmla="val 8696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2700000">
              <a:srgbClr val="0B1626">
                <a:alpha val="16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9564" y="1636776"/>
            <a:ext cx="292608" cy="2926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775204" y="1965960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4283964" y="1961388"/>
            <a:ext cx="329184" cy="146304"/>
          </a:xfrm>
          <a:prstGeom prst="rightArrow">
            <a:avLst/>
          </a:prstGeom>
          <a:solidFill>
            <a:srgbClr val="5C6B7A"/>
          </a:solidFill>
          <a:ln/>
        </p:spPr>
      </p:sp>
      <p:sp>
        <p:nvSpPr>
          <p:cNvPr id="15" name="Shape 10"/>
          <p:cNvSpPr/>
          <p:nvPr/>
        </p:nvSpPr>
        <p:spPr>
          <a:xfrm>
            <a:off x="4448556" y="1508760"/>
            <a:ext cx="1572768" cy="1051560"/>
          </a:xfrm>
          <a:prstGeom prst="roundRect">
            <a:avLst>
              <a:gd name="adj" fmla="val 8696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2700000">
              <a:srgbClr val="0B1626">
                <a:alpha val="16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8636" y="1636776"/>
            <a:ext cx="292608" cy="29260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94276" y="1965960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250" dirty="0"/>
          </a:p>
        </p:txBody>
      </p:sp>
      <p:sp>
        <p:nvSpPr>
          <p:cNvPr id="18" name="Shape 12"/>
          <p:cNvSpPr/>
          <p:nvPr/>
        </p:nvSpPr>
        <p:spPr>
          <a:xfrm>
            <a:off x="6003036" y="1961388"/>
            <a:ext cx="329184" cy="146304"/>
          </a:xfrm>
          <a:prstGeom prst="rightArrow">
            <a:avLst/>
          </a:prstGeom>
          <a:solidFill>
            <a:srgbClr val="5C6B7A"/>
          </a:solidFill>
          <a:ln/>
        </p:spPr>
      </p:sp>
      <p:sp>
        <p:nvSpPr>
          <p:cNvPr id="19" name="Shape 13"/>
          <p:cNvSpPr/>
          <p:nvPr/>
        </p:nvSpPr>
        <p:spPr>
          <a:xfrm>
            <a:off x="6167628" y="1508760"/>
            <a:ext cx="1572768" cy="1051560"/>
          </a:xfrm>
          <a:prstGeom prst="roundRect">
            <a:avLst>
              <a:gd name="adj" fmla="val 8696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2700000">
              <a:srgbClr val="0B1626">
                <a:alpha val="16000"/>
              </a:srgbClr>
            </a:outerShdw>
          </a:effectLst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7708" y="1636776"/>
            <a:ext cx="292608" cy="29260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213348" y="1965960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250" dirty="0"/>
          </a:p>
        </p:txBody>
      </p:sp>
      <p:sp>
        <p:nvSpPr>
          <p:cNvPr id="22" name="Shape 15"/>
          <p:cNvSpPr/>
          <p:nvPr/>
        </p:nvSpPr>
        <p:spPr>
          <a:xfrm>
            <a:off x="7722108" y="1961388"/>
            <a:ext cx="329184" cy="146304"/>
          </a:xfrm>
          <a:prstGeom prst="rightArrow">
            <a:avLst/>
          </a:prstGeom>
          <a:solidFill>
            <a:srgbClr val="5C6B7A"/>
          </a:solidFill>
          <a:ln/>
        </p:spPr>
      </p:sp>
      <p:sp>
        <p:nvSpPr>
          <p:cNvPr id="23" name="Shape 16"/>
          <p:cNvSpPr/>
          <p:nvPr/>
        </p:nvSpPr>
        <p:spPr>
          <a:xfrm>
            <a:off x="7886700" y="1508760"/>
            <a:ext cx="1572768" cy="1051560"/>
          </a:xfrm>
          <a:prstGeom prst="roundRect">
            <a:avLst>
              <a:gd name="adj" fmla="val 8696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2700000">
              <a:srgbClr val="0B1626">
                <a:alpha val="16000"/>
              </a:srgbClr>
            </a:outerShdw>
          </a:effectLst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6780" y="1636776"/>
            <a:ext cx="292608" cy="292608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7932420" y="1965960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250" dirty="0"/>
          </a:p>
        </p:txBody>
      </p:sp>
      <p:sp>
        <p:nvSpPr>
          <p:cNvPr id="26" name="Shape 18"/>
          <p:cNvSpPr/>
          <p:nvPr/>
        </p:nvSpPr>
        <p:spPr>
          <a:xfrm>
            <a:off x="9441180" y="1961388"/>
            <a:ext cx="329184" cy="146304"/>
          </a:xfrm>
          <a:prstGeom prst="rightArrow">
            <a:avLst/>
          </a:prstGeom>
          <a:solidFill>
            <a:srgbClr val="5C6B7A"/>
          </a:solidFill>
          <a:ln/>
        </p:spPr>
      </p:sp>
      <p:sp>
        <p:nvSpPr>
          <p:cNvPr id="27" name="Shape 19"/>
          <p:cNvSpPr/>
          <p:nvPr/>
        </p:nvSpPr>
        <p:spPr>
          <a:xfrm>
            <a:off x="9605772" y="1508760"/>
            <a:ext cx="1572768" cy="1051560"/>
          </a:xfrm>
          <a:prstGeom prst="roundRect">
            <a:avLst>
              <a:gd name="adj" fmla="val 8696"/>
            </a:avLst>
          </a:prstGeom>
          <a:solidFill>
            <a:srgbClr val="E8A33D"/>
          </a:solidFill>
          <a:ln/>
          <a:effectLst>
            <a:outerShdw sx="100000" sy="100000" kx="0" ky="0" algn="bl" rotWithShape="0" blurRad="101600" dist="38100" dir="2700000">
              <a:srgbClr val="0B1626">
                <a:alpha val="16000"/>
              </a:srgbClr>
            </a:outerShdw>
          </a:effectLst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45852" y="1636776"/>
            <a:ext cx="292608" cy="292608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9651492" y="1965960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1250" dirty="0"/>
          </a:p>
        </p:txBody>
      </p:sp>
      <p:sp>
        <p:nvSpPr>
          <p:cNvPr id="30" name="Shape 21"/>
          <p:cNvSpPr/>
          <p:nvPr/>
        </p:nvSpPr>
        <p:spPr>
          <a:xfrm>
            <a:off x="3515868" y="2560320"/>
            <a:ext cx="0" cy="256032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31" name="Shape 22"/>
          <p:cNvSpPr/>
          <p:nvPr/>
        </p:nvSpPr>
        <p:spPr>
          <a:xfrm>
            <a:off x="10392156" y="2560320"/>
            <a:ext cx="0" cy="256032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32" name="Shape 23"/>
          <p:cNvSpPr/>
          <p:nvPr/>
        </p:nvSpPr>
        <p:spPr>
          <a:xfrm>
            <a:off x="3515868" y="3063240"/>
            <a:ext cx="6876288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33" name="Shape 24"/>
          <p:cNvSpPr/>
          <p:nvPr/>
        </p:nvSpPr>
        <p:spPr>
          <a:xfrm rot="10800000">
            <a:off x="3433572" y="2578608"/>
            <a:ext cx="164592" cy="146304"/>
          </a:xfrm>
          <a:prstGeom prst="triangle">
            <a:avLst/>
          </a:prstGeom>
          <a:solidFill>
            <a:srgbClr val="E8A33D"/>
          </a:solidFill>
          <a:ln/>
        </p:spPr>
      </p:sp>
      <p:sp>
        <p:nvSpPr>
          <p:cNvPr id="34" name="Shape 25"/>
          <p:cNvSpPr/>
          <p:nvPr/>
        </p:nvSpPr>
        <p:spPr>
          <a:xfrm>
            <a:off x="5948172" y="2916936"/>
            <a:ext cx="2011680" cy="310896"/>
          </a:xfrm>
          <a:prstGeom prst="roundRect">
            <a:avLst>
              <a:gd name="adj" fmla="val 50000"/>
            </a:avLst>
          </a:prstGeom>
          <a:solidFill>
            <a:srgbClr val="12233A"/>
          </a:solidFill>
          <a:ln/>
        </p:spPr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39612" y="2962656"/>
            <a:ext cx="219456" cy="219456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6313932" y="290779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every Sprint</a:t>
            </a:r>
            <a:endParaRPr lang="en-US" sz="1150" dirty="0"/>
          </a:p>
        </p:txBody>
      </p:sp>
      <p:sp>
        <p:nvSpPr>
          <p:cNvPr id="37" name="Shape 27"/>
          <p:cNvSpPr/>
          <p:nvPr/>
        </p:nvSpPr>
        <p:spPr>
          <a:xfrm>
            <a:off x="548640" y="3566160"/>
            <a:ext cx="11109960" cy="1965960"/>
          </a:xfrm>
          <a:prstGeom prst="roundRect">
            <a:avLst>
              <a:gd name="adj" fmla="val 4651"/>
            </a:avLst>
          </a:prstGeom>
          <a:solidFill>
            <a:srgbClr val="F2F6F8"/>
          </a:solidFill>
          <a:ln/>
        </p:spPr>
      </p:sp>
      <p:sp>
        <p:nvSpPr>
          <p:cNvPr id="38" name="Shape 28"/>
          <p:cNvSpPr/>
          <p:nvPr/>
        </p:nvSpPr>
        <p:spPr>
          <a:xfrm>
            <a:off x="822960" y="3776472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9" name="Text 29"/>
          <p:cNvSpPr/>
          <p:nvPr/>
        </p:nvSpPr>
        <p:spPr>
          <a:xfrm>
            <a:off x="822960" y="3776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40" name="Text 30"/>
          <p:cNvSpPr/>
          <p:nvPr/>
        </p:nvSpPr>
        <p:spPr>
          <a:xfrm>
            <a:off x="1280160" y="3721608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are gathered from the client and broken into small, workable pieces.</a:t>
            </a:r>
            <a:endParaRPr lang="en-US" sz="1250" dirty="0"/>
          </a:p>
        </p:txBody>
      </p:sp>
      <p:sp>
        <p:nvSpPr>
          <p:cNvPr id="41" name="Shape 31"/>
          <p:cNvSpPr/>
          <p:nvPr/>
        </p:nvSpPr>
        <p:spPr>
          <a:xfrm>
            <a:off x="6309360" y="3776472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2" name="Text 32"/>
          <p:cNvSpPr/>
          <p:nvPr/>
        </p:nvSpPr>
        <p:spPr>
          <a:xfrm>
            <a:off x="6309360" y="3776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43" name="Text 33"/>
          <p:cNvSpPr/>
          <p:nvPr/>
        </p:nvSpPr>
        <p:spPr>
          <a:xfrm>
            <a:off x="6766560" y="3721608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Sprint Planning session picks a small batch of work for the next 1–4 weeks.</a:t>
            </a:r>
            <a:endParaRPr lang="en-US" sz="1250" dirty="0"/>
          </a:p>
        </p:txBody>
      </p:sp>
      <p:sp>
        <p:nvSpPr>
          <p:cNvPr id="44" name="Shape 34"/>
          <p:cNvSpPr/>
          <p:nvPr/>
        </p:nvSpPr>
        <p:spPr>
          <a:xfrm>
            <a:off x="822960" y="4553712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5" name="Text 35"/>
          <p:cNvSpPr/>
          <p:nvPr/>
        </p:nvSpPr>
        <p:spPr>
          <a:xfrm>
            <a:off x="822960" y="45537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46" name="Text 36"/>
          <p:cNvSpPr/>
          <p:nvPr/>
        </p:nvSpPr>
        <p:spPr>
          <a:xfrm>
            <a:off x="1280160" y="4498848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 develops and tests that batch, then demos working software to the customer.</a:t>
            </a:r>
            <a:endParaRPr lang="en-US" sz="1250" dirty="0"/>
          </a:p>
        </p:txBody>
      </p:sp>
      <p:sp>
        <p:nvSpPr>
          <p:cNvPr id="47" name="Shape 37"/>
          <p:cNvSpPr/>
          <p:nvPr/>
        </p:nvSpPr>
        <p:spPr>
          <a:xfrm>
            <a:off x="6309360" y="4553712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8" name="Text 38"/>
          <p:cNvSpPr/>
          <p:nvPr/>
        </p:nvSpPr>
        <p:spPr>
          <a:xfrm>
            <a:off x="6309360" y="45537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9" name="Text 39"/>
          <p:cNvSpPr/>
          <p:nvPr/>
        </p:nvSpPr>
        <p:spPr>
          <a:xfrm>
            <a:off x="6766560" y="4498848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feedback flows straight into the next Sprint — the cycle repeats until the product is complete.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356" y="491764"/>
            <a:ext cx="351495" cy="35149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ONE SPRINT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80160" y="56692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Sprint Works in Real Time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Sprint is a short, fixed development cycle — usually 1 to 4 weeks — that ends with working software.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85216" y="187452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2700000">
              <a:srgbClr val="0B1626">
                <a:alpha val="16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2039112"/>
            <a:ext cx="310896" cy="310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79576" y="2029968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813816" y="244144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Sprint Planning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813816" y="2825496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Coding Starts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4087368" y="2500884"/>
            <a:ext cx="411480" cy="164592"/>
          </a:xfrm>
          <a:prstGeom prst="rightArrow">
            <a:avLst/>
          </a:prstGeom>
          <a:solidFill>
            <a:srgbClr val="5C6B7A"/>
          </a:solidFill>
          <a:ln/>
        </p:spPr>
      </p:sp>
      <p:sp>
        <p:nvSpPr>
          <p:cNvPr id="14" name="Shape 10"/>
          <p:cNvSpPr/>
          <p:nvPr/>
        </p:nvSpPr>
        <p:spPr>
          <a:xfrm>
            <a:off x="4334256" y="187452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5FA8C4"/>
          </a:solidFill>
          <a:ln/>
          <a:effectLst>
            <a:outerShdw sx="100000" sy="100000" kx="0" ky="0" algn="bl" rotWithShape="0" blurRad="101600" dist="38100" dir="2700000">
              <a:srgbClr val="0B1626">
                <a:alpha val="16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5424" y="2039112"/>
            <a:ext cx="310896" cy="3108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928616" y="2029968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4562856" y="244144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Development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4562856" y="2825496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Daily Scrum (15 min/day)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7836408" y="2500884"/>
            <a:ext cx="411480" cy="164592"/>
          </a:xfrm>
          <a:prstGeom prst="rightArrow">
            <a:avLst/>
          </a:prstGeom>
          <a:solidFill>
            <a:srgbClr val="5C6B7A"/>
          </a:solidFill>
          <a:ln/>
        </p:spPr>
      </p:sp>
      <p:sp>
        <p:nvSpPr>
          <p:cNvPr id="20" name="Shape 15"/>
          <p:cNvSpPr/>
          <p:nvPr/>
        </p:nvSpPr>
        <p:spPr>
          <a:xfrm>
            <a:off x="8083296" y="187452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E8A33D"/>
          </a:solidFill>
          <a:ln/>
          <a:effectLst>
            <a:outerShdw sx="100000" sy="100000" kx="0" ky="0" algn="bl" rotWithShape="0" blurRad="101600" dist="38100" dir="2700000">
              <a:srgbClr val="0B1626">
                <a:alpha val="16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4464" y="2039112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677656" y="2029968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8311896" y="244144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Testing &amp; Demo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8311896" y="2825496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Review + Retrospective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2345436" y="3291840"/>
            <a:ext cx="0" cy="228600"/>
          </a:xfrm>
          <a:prstGeom prst="line">
            <a:avLst/>
          </a:prstGeom>
          <a:noFill/>
          <a:ln w="25400">
            <a:solidFill>
              <a:srgbClr val="12233A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9843516" y="3291840"/>
            <a:ext cx="0" cy="228600"/>
          </a:xfrm>
          <a:prstGeom prst="line">
            <a:avLst/>
          </a:prstGeom>
          <a:noFill/>
          <a:ln w="25400">
            <a:solidFill>
              <a:srgbClr val="12233A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2345436" y="3749040"/>
            <a:ext cx="7498080" cy="0"/>
          </a:xfrm>
          <a:prstGeom prst="line">
            <a:avLst/>
          </a:prstGeom>
          <a:noFill/>
          <a:ln w="25400">
            <a:solidFill>
              <a:srgbClr val="12233A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 rot="10800000">
            <a:off x="2263140" y="3310128"/>
            <a:ext cx="164592" cy="146304"/>
          </a:xfrm>
          <a:prstGeom prst="triangle">
            <a:avLst/>
          </a:prstGeom>
          <a:solidFill>
            <a:srgbClr val="12233A"/>
          </a:solidFill>
          <a:ln/>
        </p:spPr>
      </p:sp>
      <p:sp>
        <p:nvSpPr>
          <p:cNvPr id="29" name="Shape 23"/>
          <p:cNvSpPr/>
          <p:nvPr/>
        </p:nvSpPr>
        <p:spPr>
          <a:xfrm>
            <a:off x="5042916" y="3602736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34356" y="3648456"/>
            <a:ext cx="219456" cy="219456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408676" y="359359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Sprint Starts</a:t>
            </a:r>
            <a:endParaRPr lang="en-US" sz="1150" dirty="0"/>
          </a:p>
        </p:txBody>
      </p:sp>
      <p:sp>
        <p:nvSpPr>
          <p:cNvPr id="32" name="Shape 25"/>
          <p:cNvSpPr/>
          <p:nvPr/>
        </p:nvSpPr>
        <p:spPr>
          <a:xfrm>
            <a:off x="548640" y="425196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2F6F8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4434840"/>
            <a:ext cx="310896" cy="310896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1234440" y="441655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Daily Scrum — 15 Minutes, Every Day</a:t>
            </a:r>
            <a:endParaRPr lang="en-US" sz="1400" dirty="0"/>
          </a:p>
        </p:txBody>
      </p:sp>
      <p:sp>
        <p:nvSpPr>
          <p:cNvPr id="35" name="Text 27"/>
          <p:cNvSpPr/>
          <p:nvPr/>
        </p:nvSpPr>
        <p:spPr>
          <a:xfrm>
            <a:off x="1234440" y="475488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I complete yesterday?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will I do today?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blockers in my way?</a:t>
            </a:r>
            <a:endParaRPr lang="en-US" sz="1200" dirty="0"/>
          </a:p>
        </p:txBody>
      </p:sp>
      <p:sp>
        <p:nvSpPr>
          <p:cNvPr id="36" name="Shape 28"/>
          <p:cNvSpPr/>
          <p:nvPr/>
        </p:nvSpPr>
        <p:spPr>
          <a:xfrm>
            <a:off x="6035040" y="4251960"/>
            <a:ext cx="5623560" cy="1417320"/>
          </a:xfrm>
          <a:prstGeom prst="roundRect">
            <a:avLst>
              <a:gd name="adj" fmla="val 6452"/>
            </a:avLst>
          </a:prstGeom>
          <a:solidFill>
            <a:srgbClr val="12233A"/>
          </a:solidFill>
          <a:ln/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09360" y="4434840"/>
            <a:ext cx="310896" cy="310896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6720840" y="441655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 of Sprint: Review + Retrospective</a:t>
            </a:r>
            <a:endParaRPr lang="en-US" sz="1400" dirty="0"/>
          </a:p>
        </p:txBody>
      </p:sp>
      <p:sp>
        <p:nvSpPr>
          <p:cNvPr id="39" name="Text 30"/>
          <p:cNvSpPr/>
          <p:nvPr/>
        </p:nvSpPr>
        <p:spPr>
          <a:xfrm>
            <a:off x="6720840" y="4736592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Review: show working software to the customer for feedback. Retrospective: the team asks — what went well, what didn’t, what to improve next Sprint.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356" y="491764"/>
            <a:ext cx="351495" cy="35149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MINDSET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80160" y="56692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Agile Values &amp; Principles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1325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4 Agile Values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48640" y="1783080"/>
            <a:ext cx="5486400" cy="694944"/>
          </a:xfrm>
          <a:prstGeom prst="roundRect">
            <a:avLst>
              <a:gd name="adj" fmla="val 10526"/>
            </a:avLst>
          </a:prstGeom>
          <a:solidFill>
            <a:srgbClr val="F2F6F8"/>
          </a:solidFill>
          <a:ln/>
        </p:spPr>
      </p:sp>
      <p:sp>
        <p:nvSpPr>
          <p:cNvPr id="9" name="Shape 6"/>
          <p:cNvSpPr/>
          <p:nvPr/>
        </p:nvSpPr>
        <p:spPr>
          <a:xfrm>
            <a:off x="685800" y="189280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2002536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25880" y="18562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Individuals &amp; interactions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1325880" y="2148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processes and tools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2578608"/>
            <a:ext cx="5486400" cy="694944"/>
          </a:xfrm>
          <a:prstGeom prst="roundRect">
            <a:avLst>
              <a:gd name="adj" fmla="val 10526"/>
            </a:avLst>
          </a:prstGeom>
          <a:solidFill>
            <a:srgbClr val="F2F6F8"/>
          </a:solidFill>
          <a:ln/>
        </p:spPr>
      </p:sp>
      <p:sp>
        <p:nvSpPr>
          <p:cNvPr id="14" name="Shape 10"/>
          <p:cNvSpPr/>
          <p:nvPr/>
        </p:nvSpPr>
        <p:spPr>
          <a:xfrm>
            <a:off x="685800" y="2688336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2798064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25880" y="2651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software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1325880" y="29443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comprehensive documentation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548640" y="3374136"/>
            <a:ext cx="5486400" cy="694944"/>
          </a:xfrm>
          <a:prstGeom prst="roundRect">
            <a:avLst>
              <a:gd name="adj" fmla="val 10526"/>
            </a:avLst>
          </a:prstGeom>
          <a:solidFill>
            <a:srgbClr val="F2F6F8"/>
          </a:solidFill>
          <a:ln/>
        </p:spPr>
      </p:sp>
      <p:sp>
        <p:nvSpPr>
          <p:cNvPr id="19" name="Shape 14"/>
          <p:cNvSpPr/>
          <p:nvPr/>
        </p:nvSpPr>
        <p:spPr>
          <a:xfrm>
            <a:off x="685800" y="3483864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" y="3593592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325880" y="344728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collaboration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1325880" y="373989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contract negotiation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548640" y="4169664"/>
            <a:ext cx="5486400" cy="694944"/>
          </a:xfrm>
          <a:prstGeom prst="roundRect">
            <a:avLst>
              <a:gd name="adj" fmla="val 10526"/>
            </a:avLst>
          </a:prstGeom>
          <a:solidFill>
            <a:srgbClr val="F2F6F8"/>
          </a:solidFill>
          <a:ln/>
        </p:spPr>
      </p:sp>
      <p:sp>
        <p:nvSpPr>
          <p:cNvPr id="24" name="Shape 18"/>
          <p:cNvSpPr/>
          <p:nvPr/>
        </p:nvSpPr>
        <p:spPr>
          <a:xfrm>
            <a:off x="685800" y="4279392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" y="4389120"/>
            <a:ext cx="256032" cy="25603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325880" y="424281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Responding to change</a:t>
            </a:r>
            <a:endParaRPr lang="en-US" sz="1350" dirty="0"/>
          </a:p>
        </p:txBody>
      </p:sp>
      <p:sp>
        <p:nvSpPr>
          <p:cNvPr id="27" name="Text 20"/>
          <p:cNvSpPr/>
          <p:nvPr/>
        </p:nvSpPr>
        <p:spPr>
          <a:xfrm>
            <a:off x="1325880" y="453542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following a rigid plan</a:t>
            </a:r>
            <a:endParaRPr lang="en-US" sz="1150" dirty="0"/>
          </a:p>
        </p:txBody>
      </p:sp>
      <p:sp>
        <p:nvSpPr>
          <p:cNvPr id="28" name="Text 21"/>
          <p:cNvSpPr/>
          <p:nvPr/>
        </p:nvSpPr>
        <p:spPr>
          <a:xfrm>
            <a:off x="6355080" y="13258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Agile Principles</a:t>
            </a:r>
            <a:endParaRPr lang="en-US" sz="1700" dirty="0"/>
          </a:p>
        </p:txBody>
      </p:sp>
      <p:sp>
        <p:nvSpPr>
          <p:cNvPr id="29" name="Shape 22"/>
          <p:cNvSpPr/>
          <p:nvPr/>
        </p:nvSpPr>
        <p:spPr>
          <a:xfrm>
            <a:off x="6355080" y="1783080"/>
            <a:ext cx="5303520" cy="4480560"/>
          </a:xfrm>
          <a:prstGeom prst="roundRect">
            <a:avLst>
              <a:gd name="adj" fmla="val 2041"/>
            </a:avLst>
          </a:prstGeom>
          <a:solidFill>
            <a:srgbClr val="12233A"/>
          </a:solidFill>
          <a:ln/>
          <a:effectLst>
            <a:outerShdw sx="100000" sy="100000" kx="0" ky="0" algn="bl" rotWithShape="0" blurRad="101600" dist="38100" dir="2700000">
              <a:srgbClr val="0B1626">
                <a:alpha val="16000"/>
              </a:srgbClr>
            </a:outerShdw>
          </a:effectLst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7960" y="1947672"/>
            <a:ext cx="182880" cy="18288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6793992" y="18745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satisfaction through early, continuous delivery</a:t>
            </a:r>
            <a:endParaRPr lang="en-US" sz="1050" dirty="0"/>
          </a:p>
        </p:txBody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89720" y="1947672"/>
            <a:ext cx="182880" cy="18288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9445752" y="18745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changing requirements, even late</a:t>
            </a:r>
            <a:endParaRPr lang="en-US" sz="1050" dirty="0"/>
          </a:p>
        </p:txBody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37960" y="2633472"/>
            <a:ext cx="182880" cy="182880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6793992" y="25603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working software frequently</a:t>
            </a:r>
            <a:endParaRPr lang="en-US" sz="1050" dirty="0"/>
          </a:p>
        </p:txBody>
      </p:sp>
      <p:pic>
        <p:nvPicPr>
          <p:cNvPr id="3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89720" y="2633472"/>
            <a:ext cx="182880" cy="18288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9445752" y="25603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people and developers work together daily</a:t>
            </a:r>
            <a:endParaRPr lang="en-US" sz="1050" dirty="0"/>
          </a:p>
        </p:txBody>
      </p:sp>
      <p:pic>
        <p:nvPicPr>
          <p:cNvPr id="3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37960" y="3319272"/>
            <a:ext cx="182880" cy="182880"/>
          </a:xfrm>
          <a:prstGeom prst="rect">
            <a:avLst/>
          </a:prstGeom>
        </p:spPr>
      </p:pic>
      <p:sp>
        <p:nvSpPr>
          <p:cNvPr id="39" name="Text 27"/>
          <p:cNvSpPr/>
          <p:nvPr/>
        </p:nvSpPr>
        <p:spPr>
          <a:xfrm>
            <a:off x="6793992" y="32461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projects around motivated, trusted individuals</a:t>
            </a:r>
            <a:endParaRPr lang="en-US" sz="1050" dirty="0"/>
          </a:p>
        </p:txBody>
      </p:sp>
      <p:pic>
        <p:nvPicPr>
          <p:cNvPr id="4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89720" y="3319272"/>
            <a:ext cx="182880" cy="182880"/>
          </a:xfrm>
          <a:prstGeom prst="rect">
            <a:avLst/>
          </a:prstGeom>
        </p:spPr>
      </p:pic>
      <p:sp>
        <p:nvSpPr>
          <p:cNvPr id="41" name="Text 28"/>
          <p:cNvSpPr/>
          <p:nvPr/>
        </p:nvSpPr>
        <p:spPr>
          <a:xfrm>
            <a:off x="9445752" y="32461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Face-to-face conversation is most efficient</a:t>
            </a:r>
            <a:endParaRPr lang="en-US" sz="1050" dirty="0"/>
          </a:p>
        </p:txBody>
      </p:sp>
      <p:pic>
        <p:nvPicPr>
          <p:cNvPr id="4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37960" y="4005072"/>
            <a:ext cx="182880" cy="182880"/>
          </a:xfrm>
          <a:prstGeom prst="rect">
            <a:avLst/>
          </a:prstGeom>
        </p:spPr>
      </p:pic>
      <p:sp>
        <p:nvSpPr>
          <p:cNvPr id="43" name="Text 29"/>
          <p:cNvSpPr/>
          <p:nvPr/>
        </p:nvSpPr>
        <p:spPr>
          <a:xfrm>
            <a:off x="6793992" y="39319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software is the primary measure of progress</a:t>
            </a:r>
            <a:endParaRPr lang="en-US" sz="1050" dirty="0"/>
          </a:p>
        </p:txBody>
      </p:sp>
      <p:pic>
        <p:nvPicPr>
          <p:cNvPr id="4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189720" y="4005072"/>
            <a:ext cx="182880" cy="182880"/>
          </a:xfrm>
          <a:prstGeom prst="rect">
            <a:avLst/>
          </a:prstGeom>
        </p:spPr>
      </p:pic>
      <p:sp>
        <p:nvSpPr>
          <p:cNvPr id="45" name="Text 30"/>
          <p:cNvSpPr/>
          <p:nvPr/>
        </p:nvSpPr>
        <p:spPr>
          <a:xfrm>
            <a:off x="9445752" y="39319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a sustainable pace indefinitely</a:t>
            </a:r>
            <a:endParaRPr lang="en-US" sz="1050" dirty="0"/>
          </a:p>
        </p:txBody>
      </p:sp>
      <p:pic>
        <p:nvPicPr>
          <p:cNvPr id="46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37960" y="4690872"/>
            <a:ext cx="182880" cy="182880"/>
          </a:xfrm>
          <a:prstGeom prst="rect">
            <a:avLst/>
          </a:prstGeom>
        </p:spPr>
      </p:pic>
      <p:sp>
        <p:nvSpPr>
          <p:cNvPr id="47" name="Text 31"/>
          <p:cNvSpPr/>
          <p:nvPr/>
        </p:nvSpPr>
        <p:spPr>
          <a:xfrm>
            <a:off x="6793992" y="46177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attention to technical excellence</a:t>
            </a:r>
            <a:endParaRPr lang="en-US" sz="1050" dirty="0"/>
          </a:p>
        </p:txBody>
      </p:sp>
      <p:pic>
        <p:nvPicPr>
          <p:cNvPr id="48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189720" y="4690872"/>
            <a:ext cx="182880" cy="182880"/>
          </a:xfrm>
          <a:prstGeom prst="rect">
            <a:avLst/>
          </a:prstGeom>
        </p:spPr>
      </p:pic>
      <p:sp>
        <p:nvSpPr>
          <p:cNvPr id="49" name="Text 32"/>
          <p:cNvSpPr/>
          <p:nvPr/>
        </p:nvSpPr>
        <p:spPr>
          <a:xfrm>
            <a:off x="9445752" y="46177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Simplicity — maximize work not done</a:t>
            </a:r>
            <a:endParaRPr lang="en-US" sz="1050" dirty="0"/>
          </a:p>
        </p:txBody>
      </p:sp>
      <p:pic>
        <p:nvPicPr>
          <p:cNvPr id="50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37960" y="5376672"/>
            <a:ext cx="182880" cy="182880"/>
          </a:xfrm>
          <a:prstGeom prst="rect">
            <a:avLst/>
          </a:prstGeom>
        </p:spPr>
      </p:pic>
      <p:sp>
        <p:nvSpPr>
          <p:cNvPr id="51" name="Text 33"/>
          <p:cNvSpPr/>
          <p:nvPr/>
        </p:nvSpPr>
        <p:spPr>
          <a:xfrm>
            <a:off x="6793992" y="53035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Self-organizing teams produce the best results</a:t>
            </a:r>
            <a:endParaRPr lang="en-US" sz="1050" dirty="0"/>
          </a:p>
        </p:txBody>
      </p:sp>
      <p:pic>
        <p:nvPicPr>
          <p:cNvPr id="52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189720" y="5376672"/>
            <a:ext cx="182880" cy="182880"/>
          </a:xfrm>
          <a:prstGeom prst="rect">
            <a:avLst/>
          </a:prstGeom>
        </p:spPr>
      </p:pic>
      <p:sp>
        <p:nvSpPr>
          <p:cNvPr id="53" name="Text 34"/>
          <p:cNvSpPr/>
          <p:nvPr/>
        </p:nvSpPr>
        <p:spPr>
          <a:xfrm>
            <a:off x="9445752" y="53035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Regularly reflect and adjust for improvement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356" y="491764"/>
            <a:ext cx="351495" cy="35149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FRAMEWORK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80160" y="56692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Scrum Roles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1234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is the most widely used Agile framework — built on defined roles, events, and artifacts.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39496" y="1828800"/>
            <a:ext cx="3520440" cy="42062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E3E9EE"/>
            </a:solidFill>
            <a:prstDash val="solid"/>
          </a:ln>
          <a:effectLst>
            <a:outerShdw sx="100000" sy="100000" kx="0" ky="0" algn="bl" rotWithShape="0" blurRad="101600" dist="38100" dir="2700000">
              <a:srgbClr val="0B1626">
                <a:alpha val="1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842516" y="214884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1972" y="2386584"/>
            <a:ext cx="475488" cy="47548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22376" y="324612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Owner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1088136" y="3703320"/>
            <a:ext cx="2423160" cy="0"/>
          </a:xfrm>
          <a:prstGeom prst="line">
            <a:avLst/>
          </a:prstGeom>
          <a:noFill/>
          <a:ln w="12700">
            <a:solidFill>
              <a:srgbClr val="E3E9EE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859536" y="3886200"/>
            <a:ext cx="2880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Represents the customer. Owns requirements, priorities, the backlog, and accepts finished work.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4334256" y="1828800"/>
            <a:ext cx="3520440" cy="42062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E3E9EE"/>
            </a:solidFill>
            <a:prstDash val="solid"/>
          </a:ln>
          <a:effectLst>
            <a:outerShdw sx="100000" sy="100000" kx="0" ky="0" algn="bl" rotWithShape="0" blurRad="101600" dist="38100" dir="2700000">
              <a:srgbClr val="0B1626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637276" y="2148840"/>
            <a:ext cx="914400" cy="91440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6732" y="2386584"/>
            <a:ext cx="475488" cy="47548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517136" y="324612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Scrum Master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4882896" y="3703320"/>
            <a:ext cx="2423160" cy="0"/>
          </a:xfrm>
          <a:prstGeom prst="line">
            <a:avLst/>
          </a:prstGeom>
          <a:noFill/>
          <a:ln w="12700">
            <a:solidFill>
              <a:srgbClr val="E3E9EE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4654296" y="3886200"/>
            <a:ext cx="2880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team's coach. Removes blockers, runs ceremonies, and protects the Agile process.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8129016" y="1828800"/>
            <a:ext cx="3520440" cy="42062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E3E9EE"/>
            </a:solidFill>
            <a:prstDash val="solid"/>
          </a:ln>
          <a:effectLst>
            <a:outerShdw sx="100000" sy="100000" kx="0" ky="0" algn="bl" rotWithShape="0" blurRad="101600" dist="38100" dir="2700000">
              <a:srgbClr val="0B1626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432036" y="214884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1492" y="2386584"/>
            <a:ext cx="475488" cy="47548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311896" y="324612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 Team</a:t>
            </a:r>
            <a:endParaRPr lang="en-US" sz="1600" dirty="0"/>
          </a:p>
        </p:txBody>
      </p:sp>
      <p:sp>
        <p:nvSpPr>
          <p:cNvPr id="24" name="Shape 18"/>
          <p:cNvSpPr/>
          <p:nvPr/>
        </p:nvSpPr>
        <p:spPr>
          <a:xfrm>
            <a:off x="8677656" y="3703320"/>
            <a:ext cx="2423160" cy="0"/>
          </a:xfrm>
          <a:prstGeom prst="line">
            <a:avLst/>
          </a:prstGeom>
          <a:noFill/>
          <a:ln w="12700">
            <a:solidFill>
              <a:srgbClr val="E3E9EE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8449056" y="3886200"/>
            <a:ext cx="2880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Developers, testers, UI designers, DevOps &amp; business analysts who build the product.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356" y="491764"/>
            <a:ext cx="351495" cy="35149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FRAMEWORK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80160" y="56692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Scrum Events (Ceremonies)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16636" y="1600200"/>
            <a:ext cx="2651760" cy="2468880"/>
          </a:xfrm>
          <a:prstGeom prst="roundRect">
            <a:avLst>
              <a:gd name="adj" fmla="val 3704"/>
            </a:avLst>
          </a:prstGeom>
          <a:solidFill>
            <a:srgbClr val="F2F6F8"/>
          </a:solidFill>
          <a:ln/>
          <a:effectLst>
            <a:outerShdw sx="100000" sy="100000" kx="0" ky="0" algn="bl" rotWithShape="0" blurRad="101600" dist="38100" dir="2700000">
              <a:srgbClr val="0B1626">
                <a:alpha val="1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522476" y="182880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8780" y="1975104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53796" y="26060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Planning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699516" y="310896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decides what to build in the upcoming Sprint.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3351276" y="1600200"/>
            <a:ext cx="2651760" cy="2468880"/>
          </a:xfrm>
          <a:prstGeom prst="roundRect">
            <a:avLst>
              <a:gd name="adj" fmla="val 3704"/>
            </a:avLst>
          </a:prstGeom>
          <a:solidFill>
            <a:srgbClr val="F2F6F8"/>
          </a:solidFill>
          <a:ln/>
          <a:effectLst>
            <a:outerShdw sx="100000" sy="100000" kx="0" ky="0" algn="bl" rotWithShape="0" blurRad="101600" dist="38100" dir="2700000">
              <a:srgbClr val="0B1626">
                <a:alpha val="16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357116" y="182880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3420" y="1975104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488436" y="26060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Daily Scrum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3534156" y="310896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15-minute daily check-in: done, doing, blockers.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6185916" y="1600200"/>
            <a:ext cx="2651760" cy="2468880"/>
          </a:xfrm>
          <a:prstGeom prst="roundRect">
            <a:avLst>
              <a:gd name="adj" fmla="val 3704"/>
            </a:avLst>
          </a:prstGeom>
          <a:solidFill>
            <a:srgbClr val="F2F6F8"/>
          </a:solidFill>
          <a:ln/>
          <a:effectLst>
            <a:outerShdw sx="100000" sy="100000" kx="0" ky="0" algn="bl" rotWithShape="0" blurRad="101600" dist="38100" dir="2700000">
              <a:srgbClr val="0B1626">
                <a:alpha val="16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191756" y="182880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8060" y="1975104"/>
            <a:ext cx="347472" cy="34747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323076" y="26060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Review</a:t>
            </a:r>
            <a:endParaRPr lang="en-US" sz="1450" dirty="0"/>
          </a:p>
        </p:txBody>
      </p:sp>
      <p:sp>
        <p:nvSpPr>
          <p:cNvPr id="21" name="Text 15"/>
          <p:cNvSpPr/>
          <p:nvPr/>
        </p:nvSpPr>
        <p:spPr>
          <a:xfrm>
            <a:off x="6368796" y="310896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the working software to the customer for feedback.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9020556" y="1600200"/>
            <a:ext cx="2651760" cy="2468880"/>
          </a:xfrm>
          <a:prstGeom prst="roundRect">
            <a:avLst>
              <a:gd name="adj" fmla="val 3704"/>
            </a:avLst>
          </a:prstGeom>
          <a:solidFill>
            <a:srgbClr val="F2F6F8"/>
          </a:solidFill>
          <a:ln/>
          <a:effectLst>
            <a:outerShdw sx="100000" sy="100000" kx="0" ky="0" algn="bl" rotWithShape="0" blurRad="101600" dist="38100" dir="2700000">
              <a:srgbClr val="0B1626">
                <a:alpha val="16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10026396" y="182880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72700" y="1975104"/>
            <a:ext cx="347472" cy="34747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157716" y="26060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Retrospective</a:t>
            </a:r>
            <a:endParaRPr lang="en-US" sz="1450" dirty="0"/>
          </a:p>
        </p:txBody>
      </p:sp>
      <p:sp>
        <p:nvSpPr>
          <p:cNvPr id="26" name="Text 19"/>
          <p:cNvSpPr/>
          <p:nvPr/>
        </p:nvSpPr>
        <p:spPr>
          <a:xfrm>
            <a:off x="9203436" y="310896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reflects: what went well, what didn't, what to improve.</a:t>
            </a:r>
            <a:endParaRPr lang="en-US" sz="1150" dirty="0"/>
          </a:p>
        </p:txBody>
      </p:sp>
      <p:sp>
        <p:nvSpPr>
          <p:cNvPr id="27" name="Shape 20"/>
          <p:cNvSpPr/>
          <p:nvPr/>
        </p:nvSpPr>
        <p:spPr>
          <a:xfrm>
            <a:off x="516636" y="4389120"/>
            <a:ext cx="11155680" cy="1417320"/>
          </a:xfrm>
          <a:prstGeom prst="roundRect">
            <a:avLst>
              <a:gd name="adj" fmla="val 6452"/>
            </a:avLst>
          </a:prstGeom>
          <a:solidFill>
            <a:srgbClr val="12233A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0956" y="4617720"/>
            <a:ext cx="365760" cy="36576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339596" y="459943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Scrum — asked every single working day of the Sprint</a:t>
            </a:r>
            <a:endParaRPr lang="en-US" sz="1350" dirty="0"/>
          </a:p>
        </p:txBody>
      </p:sp>
      <p:sp>
        <p:nvSpPr>
          <p:cNvPr id="30" name="Text 22"/>
          <p:cNvSpPr/>
          <p:nvPr/>
        </p:nvSpPr>
        <p:spPr>
          <a:xfrm>
            <a:off x="790956" y="50292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BD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did I complete yesterday?”   •   “What will I do today?”   •   “Do I have any blockers?”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356" y="491764"/>
            <a:ext cx="351495" cy="35149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FRAMEWORK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80160" y="56692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Scrum Artifacts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93776" y="1737360"/>
            <a:ext cx="3520440" cy="2651760"/>
          </a:xfrm>
          <a:prstGeom prst="roundRect">
            <a:avLst>
              <a:gd name="adj" fmla="val 3448"/>
            </a:avLst>
          </a:prstGeom>
          <a:solidFill>
            <a:srgbClr val="F2F6F8"/>
          </a:solidFill>
          <a:ln/>
          <a:effectLst>
            <a:outerShdw sx="100000" sy="100000" kx="0" ky="0" algn="bl" rotWithShape="0" blurRad="101600" dist="38100" dir="2700000">
              <a:srgbClr val="0B1626">
                <a:alpha val="16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2011680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71016" y="202996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Backlog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768096" y="260604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wish-list: Login, Signup, Payment, Reports — everything the product could ever need.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3995928" y="2980944"/>
            <a:ext cx="484632" cy="164592"/>
          </a:xfrm>
          <a:prstGeom prst="rightArrow">
            <a:avLst/>
          </a:prstGeom>
          <a:solidFill>
            <a:srgbClr val="5C6B7A"/>
          </a:solidFill>
          <a:ln/>
        </p:spPr>
      </p:sp>
      <p:sp>
        <p:nvSpPr>
          <p:cNvPr id="12" name="Shape 8"/>
          <p:cNvSpPr/>
          <p:nvPr/>
        </p:nvSpPr>
        <p:spPr>
          <a:xfrm>
            <a:off x="4334256" y="1737360"/>
            <a:ext cx="3520440" cy="2651760"/>
          </a:xfrm>
          <a:prstGeom prst="roundRect">
            <a:avLst>
              <a:gd name="adj" fmla="val 3448"/>
            </a:avLst>
          </a:prstGeom>
          <a:solidFill>
            <a:srgbClr val="12233A"/>
          </a:solidFill>
          <a:ln/>
          <a:effectLst>
            <a:outerShdw sx="100000" sy="100000" kx="0" ky="0" algn="bl" rotWithShape="0" blurRad="101600" dist="38100" dir="2700000">
              <a:srgbClr val="0B1626">
                <a:alpha val="16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8576" y="201168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111496" y="202996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Backlog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4608576" y="260604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C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slice pulled from the Product Backlog for this Sprint: e.g. Login + Signup.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7836408" y="2980944"/>
            <a:ext cx="484632" cy="164592"/>
          </a:xfrm>
          <a:prstGeom prst="rightArrow">
            <a:avLst/>
          </a:prstGeom>
          <a:solidFill>
            <a:srgbClr val="5C6B7A"/>
          </a:solidFill>
          <a:ln/>
        </p:spPr>
      </p:sp>
      <p:sp>
        <p:nvSpPr>
          <p:cNvPr id="17" name="Shape 12"/>
          <p:cNvSpPr/>
          <p:nvPr/>
        </p:nvSpPr>
        <p:spPr>
          <a:xfrm>
            <a:off x="8174736" y="1737360"/>
            <a:ext cx="3520440" cy="2651760"/>
          </a:xfrm>
          <a:prstGeom prst="roundRect">
            <a:avLst>
              <a:gd name="adj" fmla="val 3448"/>
            </a:avLst>
          </a:prstGeom>
          <a:solidFill>
            <a:srgbClr val="F2F6F8"/>
          </a:solidFill>
          <a:ln/>
          <a:effectLst>
            <a:outerShdw sx="100000" sy="100000" kx="0" ky="0" algn="bl" rotWithShape="0" blurRad="101600" dist="38100" dir="2700000">
              <a:srgbClr val="0B1626">
                <a:alpha val="16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9056" y="2011680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951976" y="202996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Increment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8449056" y="260604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working, shippable result at Sprint end — e.g. a fully working Login module.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356" y="491764"/>
            <a:ext cx="351495" cy="35149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FRAMEWORKS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80160" y="56692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Kanban — Visualize the Work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08076" y="1645920"/>
            <a:ext cx="2606040" cy="3383280"/>
          </a:xfrm>
          <a:prstGeom prst="roundRect">
            <a:avLst>
              <a:gd name="adj" fmla="val 2807"/>
            </a:avLst>
          </a:prstGeom>
          <a:solidFill>
            <a:srgbClr val="F2F6F8"/>
          </a:solidFill>
          <a:ln/>
        </p:spPr>
      </p:sp>
      <p:sp>
        <p:nvSpPr>
          <p:cNvPr id="8" name="Shape 5"/>
          <p:cNvSpPr/>
          <p:nvPr/>
        </p:nvSpPr>
        <p:spPr>
          <a:xfrm>
            <a:off x="608076" y="1645920"/>
            <a:ext cx="2606040" cy="502920"/>
          </a:xfrm>
          <a:prstGeom prst="roundRect">
            <a:avLst>
              <a:gd name="adj" fmla="val 14545"/>
            </a:avLst>
          </a:prstGeom>
          <a:solidFill>
            <a:srgbClr val="5C6B7A"/>
          </a:solidFill>
          <a:ln/>
        </p:spPr>
      </p:sp>
      <p:sp>
        <p:nvSpPr>
          <p:cNvPr id="9" name="Text 6"/>
          <p:cNvSpPr/>
          <p:nvPr/>
        </p:nvSpPr>
        <p:spPr>
          <a:xfrm>
            <a:off x="608076" y="16459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DO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45236" y="2331720"/>
            <a:ext cx="233172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E3E9EE"/>
            </a:solidFill>
            <a:prstDash val="solid"/>
          </a:ln>
          <a:effectLst>
            <a:outerShdw sx="100000" sy="100000" kx="0" ky="0" algn="bl" rotWithShape="0" blurRad="101600" dist="38100" dir="2700000">
              <a:srgbClr val="0B1626">
                <a:alpha val="16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82396" y="233172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UI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45236" y="3108960"/>
            <a:ext cx="233172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E3E9EE"/>
            </a:solidFill>
            <a:prstDash val="solid"/>
          </a:ln>
          <a:effectLst>
            <a:outerShdw sx="100000" sy="100000" kx="0" ky="0" algn="bl" rotWithShape="0" blurRad="101600" dist="38100" dir="2700000">
              <a:srgbClr val="0B1626">
                <a:alpha val="16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82396" y="310896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Page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195828" y="3264408"/>
            <a:ext cx="329184" cy="146304"/>
          </a:xfrm>
          <a:prstGeom prst="rightArrow">
            <a:avLst/>
          </a:prstGeom>
          <a:solidFill>
            <a:srgbClr val="5C6B7A"/>
          </a:solidFill>
          <a:ln/>
        </p:spPr>
      </p:sp>
      <p:sp>
        <p:nvSpPr>
          <p:cNvPr id="15" name="Shape 12"/>
          <p:cNvSpPr/>
          <p:nvPr/>
        </p:nvSpPr>
        <p:spPr>
          <a:xfrm>
            <a:off x="3396996" y="1645920"/>
            <a:ext cx="2606040" cy="3383280"/>
          </a:xfrm>
          <a:prstGeom prst="roundRect">
            <a:avLst>
              <a:gd name="adj" fmla="val 2807"/>
            </a:avLst>
          </a:prstGeom>
          <a:solidFill>
            <a:srgbClr val="F2F6F8"/>
          </a:solidFill>
          <a:ln/>
        </p:spPr>
      </p:sp>
      <p:sp>
        <p:nvSpPr>
          <p:cNvPr id="16" name="Shape 13"/>
          <p:cNvSpPr/>
          <p:nvPr/>
        </p:nvSpPr>
        <p:spPr>
          <a:xfrm>
            <a:off x="3396996" y="1645920"/>
            <a:ext cx="2606040" cy="502920"/>
          </a:xfrm>
          <a:prstGeom prst="roundRect">
            <a:avLst>
              <a:gd name="adj" fmla="val 14545"/>
            </a:avLst>
          </a:prstGeom>
          <a:solidFill>
            <a:srgbClr val="1C7293"/>
          </a:solidFill>
          <a:ln/>
        </p:spPr>
      </p:sp>
      <p:sp>
        <p:nvSpPr>
          <p:cNvPr id="17" name="Text 14"/>
          <p:cNvSpPr/>
          <p:nvPr/>
        </p:nvSpPr>
        <p:spPr>
          <a:xfrm>
            <a:off x="3396996" y="16459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3534156" y="2331720"/>
            <a:ext cx="233172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E3E9EE"/>
            </a:solidFill>
            <a:prstDash val="solid"/>
          </a:ln>
          <a:effectLst>
            <a:outerShdw sx="100000" sy="100000" kx="0" ky="0" algn="bl" rotWithShape="0" blurRad="101600" dist="38100" dir="2700000">
              <a:srgbClr val="0B1626">
                <a:alpha val="16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3671316" y="233172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Coding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984748" y="3264408"/>
            <a:ext cx="329184" cy="146304"/>
          </a:xfrm>
          <a:prstGeom prst="rightArrow">
            <a:avLst/>
          </a:prstGeom>
          <a:solidFill>
            <a:srgbClr val="5C6B7A"/>
          </a:solidFill>
          <a:ln/>
        </p:spPr>
      </p:sp>
      <p:sp>
        <p:nvSpPr>
          <p:cNvPr id="21" name="Shape 18"/>
          <p:cNvSpPr/>
          <p:nvPr/>
        </p:nvSpPr>
        <p:spPr>
          <a:xfrm>
            <a:off x="6185916" y="1645920"/>
            <a:ext cx="2606040" cy="3383280"/>
          </a:xfrm>
          <a:prstGeom prst="roundRect">
            <a:avLst>
              <a:gd name="adj" fmla="val 2807"/>
            </a:avLst>
          </a:prstGeom>
          <a:solidFill>
            <a:srgbClr val="F2F6F8"/>
          </a:solidFill>
          <a:ln/>
        </p:spPr>
      </p:sp>
      <p:sp>
        <p:nvSpPr>
          <p:cNvPr id="22" name="Shape 19"/>
          <p:cNvSpPr/>
          <p:nvPr/>
        </p:nvSpPr>
        <p:spPr>
          <a:xfrm>
            <a:off x="6185916" y="1645920"/>
            <a:ext cx="2606040" cy="502920"/>
          </a:xfrm>
          <a:prstGeom prst="roundRect">
            <a:avLst>
              <a:gd name="adj" fmla="val 14545"/>
            </a:avLst>
          </a:prstGeom>
          <a:solidFill>
            <a:srgbClr val="E8A33D"/>
          </a:solidFill>
          <a:ln/>
        </p:spPr>
      </p:sp>
      <p:sp>
        <p:nvSpPr>
          <p:cNvPr id="23" name="Text 20"/>
          <p:cNvSpPr/>
          <p:nvPr/>
        </p:nvSpPr>
        <p:spPr>
          <a:xfrm>
            <a:off x="6185916" y="16459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6323076" y="2331720"/>
            <a:ext cx="233172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E3E9EE"/>
            </a:solidFill>
            <a:prstDash val="solid"/>
          </a:ln>
          <a:effectLst>
            <a:outerShdw sx="100000" sy="100000" kx="0" ky="0" algn="bl" rotWithShape="0" blurRad="101600" dist="38100" dir="2700000">
              <a:srgbClr val="0B1626">
                <a:alpha val="16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6460236" y="233172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Feature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8773668" y="3264408"/>
            <a:ext cx="329184" cy="146304"/>
          </a:xfrm>
          <a:prstGeom prst="rightArrow">
            <a:avLst/>
          </a:prstGeom>
          <a:solidFill>
            <a:srgbClr val="5C6B7A"/>
          </a:solidFill>
          <a:ln/>
        </p:spPr>
      </p:sp>
      <p:sp>
        <p:nvSpPr>
          <p:cNvPr id="27" name="Shape 24"/>
          <p:cNvSpPr/>
          <p:nvPr/>
        </p:nvSpPr>
        <p:spPr>
          <a:xfrm>
            <a:off x="8974836" y="1645920"/>
            <a:ext cx="2606040" cy="3383280"/>
          </a:xfrm>
          <a:prstGeom prst="roundRect">
            <a:avLst>
              <a:gd name="adj" fmla="val 2807"/>
            </a:avLst>
          </a:prstGeom>
          <a:solidFill>
            <a:srgbClr val="F2F6F8"/>
          </a:solidFill>
          <a:ln/>
        </p:spPr>
      </p:sp>
      <p:sp>
        <p:nvSpPr>
          <p:cNvPr id="28" name="Shape 25"/>
          <p:cNvSpPr/>
          <p:nvPr/>
        </p:nvSpPr>
        <p:spPr>
          <a:xfrm>
            <a:off x="8974836" y="1645920"/>
            <a:ext cx="2606040" cy="502920"/>
          </a:xfrm>
          <a:prstGeom prst="roundRect">
            <a:avLst>
              <a:gd name="adj" fmla="val 14545"/>
            </a:avLst>
          </a:prstGeom>
          <a:solidFill>
            <a:srgbClr val="3C8F5B"/>
          </a:solidFill>
          <a:ln/>
        </p:spPr>
      </p:sp>
      <p:sp>
        <p:nvSpPr>
          <p:cNvPr id="29" name="Text 26"/>
          <p:cNvSpPr/>
          <p:nvPr/>
        </p:nvSpPr>
        <p:spPr>
          <a:xfrm>
            <a:off x="8974836" y="16459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9111996" y="2331720"/>
            <a:ext cx="233172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E3E9EE"/>
            </a:solidFill>
            <a:prstDash val="solid"/>
          </a:ln>
          <a:effectLst>
            <a:outerShdw sx="100000" sy="100000" kx="0" ky="0" algn="bl" rotWithShape="0" blurRad="101600" dist="38100" dir="2700000">
              <a:srgbClr val="0B1626">
                <a:alpha val="16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9249156" y="233172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Signup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9111996" y="3108960"/>
            <a:ext cx="233172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E3E9EE"/>
            </a:solidFill>
            <a:prstDash val="solid"/>
          </a:ln>
          <a:effectLst>
            <a:outerShdw sx="100000" sy="100000" kx="0" ky="0" algn="bl" rotWithShape="0" blurRad="101600" dist="38100" dir="2700000">
              <a:srgbClr val="0B1626">
                <a:alpha val="16000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9249156" y="310896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Splash Screen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608076" y="53035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Benefits: easy tracking · less work overload · continuous delivery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356" y="491764"/>
            <a:ext cx="351495" cy="35149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FRAMEWORKS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80160" y="56692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Extreme Programming, Lean &amp; DevOps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39496" y="1600200"/>
            <a:ext cx="3520440" cy="4434840"/>
          </a:xfrm>
          <a:prstGeom prst="roundRect">
            <a:avLst>
              <a:gd name="adj" fmla="val 2597"/>
            </a:avLst>
          </a:prstGeom>
          <a:solidFill>
            <a:srgbClr val="F2F6F8"/>
          </a:solidFill>
          <a:ln/>
          <a:effectLst>
            <a:outerShdw sx="100000" sy="100000" kx="0" ky="0" algn="bl" rotWithShape="0" blurRad="101600" dist="38100" dir="2700000">
              <a:srgbClr val="0B1626">
                <a:alpha val="1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68096" y="18288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1956816"/>
            <a:ext cx="246888" cy="2468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62456" y="1856232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Extreme Programming (XP)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813816" y="246888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 high-quality code.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813816" y="2880360"/>
            <a:ext cx="297180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Programming — two developers, one types, one reviews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Test-Driven Development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Integration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Refactoring &amp; frequent releases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334256" y="1600200"/>
            <a:ext cx="3520440" cy="4434840"/>
          </a:xfrm>
          <a:prstGeom prst="roundRect">
            <a:avLst>
              <a:gd name="adj" fmla="val 2597"/>
            </a:avLst>
          </a:prstGeom>
          <a:solidFill>
            <a:srgbClr val="12233A"/>
          </a:solidFill>
          <a:ln/>
          <a:effectLst>
            <a:outerShdw sx="100000" sy="100000" kx="0" ky="0" algn="bl" rotWithShape="0" blurRad="101600" dist="38100" dir="2700000">
              <a:srgbClr val="0B1626">
                <a:alpha val="16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562856" y="182880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872" y="1956816"/>
            <a:ext cx="246888" cy="24688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157216" y="1856232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Lean Development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4608576" y="246888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FC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 remove waste.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4608576" y="2880360"/>
            <a:ext cx="297180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C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documentation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C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Unused features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C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time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C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meetings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8129016" y="1600200"/>
            <a:ext cx="3520440" cy="4434840"/>
          </a:xfrm>
          <a:prstGeom prst="roundRect">
            <a:avLst>
              <a:gd name="adj" fmla="val 2597"/>
            </a:avLst>
          </a:prstGeom>
          <a:solidFill>
            <a:srgbClr val="F2F6F8"/>
          </a:solidFill>
          <a:ln/>
          <a:effectLst>
            <a:outerShdw sx="100000" sy="100000" kx="0" ky="0" algn="bl" rotWithShape="0" blurRad="101600" dist="38100" dir="2700000">
              <a:srgbClr val="0B1626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357616" y="18288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956816"/>
            <a:ext cx="246888" cy="24688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951976" y="1856232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DevOps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8403336" y="246888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 deploy faster &amp; safer.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8403336" y="2880360"/>
            <a:ext cx="297180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→ Build → Test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→ Monitor → Feedback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Git, Jenkins, Docker,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Kubernetes, GitHub Actions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356" y="491764"/>
            <a:ext cx="351495" cy="35149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80160" y="56692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Agile vs Waterfall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463040" y="1554480"/>
          <a:ext cx="9235440" cy="914400"/>
        </p:xfrm>
        <a:graphic>
          <a:graphicData uri="http://schemas.openxmlformats.org/drawingml/2006/table">
            <a:tbl>
              <a:tblPr/>
              <a:tblGrid>
                <a:gridCol w="4617720"/>
                <a:gridCol w="461772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Waterfall</a:t>
                      </a:r>
                      <a:endParaRPr lang="en-US" sz="14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6B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Agile</a:t>
                      </a:r>
                      <a:endParaRPr lang="en-US" sz="14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B3A"/>
                          </a:solidFill>
                        </a:rPr>
                        <a:t>One delivery, at the very end</a:t>
                      </a:r>
                      <a:endParaRPr lang="en-US" sz="125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C2B3A"/>
                          </a:solidFill>
                        </a:rPr>
                        <a:t>Multiple deliveries, every Sprint</a:t>
                      </a:r>
                      <a:endParaRPr lang="en-US" sz="125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B3A"/>
                          </a:solidFill>
                        </a:rPr>
                        <a:t>No changes allowed</a:t>
                      </a:r>
                      <a:endParaRPr lang="en-US" sz="125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C2B3A"/>
                          </a:solidFill>
                        </a:rPr>
                        <a:t>Changes welcomed anytime</a:t>
                      </a:r>
                      <a:endParaRPr lang="en-US" sz="125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B3A"/>
                          </a:solidFill>
                        </a:rPr>
                        <a:t>Testing happens at the end</a:t>
                      </a:r>
                      <a:endParaRPr lang="en-US" sz="125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C2B3A"/>
                          </a:solidFill>
                        </a:rPr>
                        <a:t>Continuous testing throughout</a:t>
                      </a:r>
                      <a:endParaRPr lang="en-US" sz="125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B3A"/>
                          </a:solidFill>
                        </a:rPr>
                        <a:t>Customer involved only at the end</a:t>
                      </a:r>
                      <a:endParaRPr lang="en-US" sz="125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C2B3A"/>
                          </a:solidFill>
                        </a:rPr>
                        <a:t>Customer involved throughout</a:t>
                      </a:r>
                      <a:endParaRPr lang="en-US" sz="125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B3A"/>
                          </a:solidFill>
                        </a:rPr>
                        <a:t>High risk</a:t>
                      </a:r>
                      <a:endParaRPr lang="en-US" sz="125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C2B3A"/>
                          </a:solidFill>
                        </a:rPr>
                        <a:t>Lower risk</a:t>
                      </a:r>
                      <a:endParaRPr lang="en-US" sz="125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B3A"/>
                          </a:solidFill>
                        </a:rPr>
                        <a:t>Slow to deliver value</a:t>
                      </a:r>
                      <a:endParaRPr lang="en-US" sz="125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C2B3A"/>
                          </a:solidFill>
                        </a:rPr>
                        <a:t>Fast, incremental value</a:t>
                      </a:r>
                      <a:endParaRPr lang="en-US" sz="125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B3A"/>
                          </a:solidFill>
                        </a:rPr>
                        <a:t>Heavy documentation first</a:t>
                      </a:r>
                      <a:endParaRPr lang="en-US" sz="125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C2B3A"/>
                          </a:solidFill>
                        </a:rPr>
                        <a:t>Working software first</a:t>
                      </a:r>
                      <a:endParaRPr lang="en-US" sz="125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356" y="491764"/>
            <a:ext cx="351495" cy="35149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80160" y="56692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Agile — Banking App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12801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company builds a Banking Application, sprint by sprint. The customer reviews after every Sprint, and requested changes are implemented immediately.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13816" y="214884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2700000">
              <a:srgbClr val="0B1626">
                <a:alpha val="16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1348" y="2313432"/>
            <a:ext cx="310896" cy="310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05256" y="26974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905256" y="299008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2761488" y="2761488"/>
            <a:ext cx="329184" cy="146304"/>
          </a:xfrm>
          <a:prstGeom prst="rightArrow">
            <a:avLst/>
          </a:prstGeom>
          <a:solidFill>
            <a:srgbClr val="5C6B7A"/>
          </a:solidFill>
          <a:ln/>
        </p:spPr>
      </p:sp>
      <p:sp>
        <p:nvSpPr>
          <p:cNvPr id="13" name="Shape 9"/>
          <p:cNvSpPr/>
          <p:nvPr/>
        </p:nvSpPr>
        <p:spPr>
          <a:xfrm>
            <a:off x="2962656" y="214884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2700000">
              <a:srgbClr val="0B1626">
                <a:alpha val="16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0188" y="2313432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054096" y="26974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3054096" y="299008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Money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4910328" y="2761488"/>
            <a:ext cx="329184" cy="146304"/>
          </a:xfrm>
          <a:prstGeom prst="rightArrow">
            <a:avLst/>
          </a:prstGeom>
          <a:solidFill>
            <a:srgbClr val="5C6B7A"/>
          </a:solidFill>
          <a:ln/>
        </p:spPr>
      </p:sp>
      <p:sp>
        <p:nvSpPr>
          <p:cNvPr id="18" name="Shape 13"/>
          <p:cNvSpPr/>
          <p:nvPr/>
        </p:nvSpPr>
        <p:spPr>
          <a:xfrm>
            <a:off x="5111496" y="214884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2700000">
              <a:srgbClr val="0B1626">
                <a:alpha val="16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9028" y="2313432"/>
            <a:ext cx="310896" cy="31089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202936" y="26974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5202936" y="299008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Summary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7059168" y="2761488"/>
            <a:ext cx="329184" cy="146304"/>
          </a:xfrm>
          <a:prstGeom prst="rightArrow">
            <a:avLst/>
          </a:prstGeom>
          <a:solidFill>
            <a:srgbClr val="5C6B7A"/>
          </a:solidFill>
          <a:ln/>
        </p:spPr>
      </p:sp>
      <p:sp>
        <p:nvSpPr>
          <p:cNvPr id="23" name="Shape 17"/>
          <p:cNvSpPr/>
          <p:nvPr/>
        </p:nvSpPr>
        <p:spPr>
          <a:xfrm>
            <a:off x="7260336" y="214884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2700000">
              <a:srgbClr val="0B1626">
                <a:alpha val="16000"/>
              </a:srgbClr>
            </a:outerShdw>
          </a:effectLst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7868" y="2313432"/>
            <a:ext cx="310896" cy="31089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351776" y="26974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4</a:t>
            </a:r>
            <a:endParaRPr lang="en-US" sz="1100" dirty="0"/>
          </a:p>
        </p:txBody>
      </p:sp>
      <p:sp>
        <p:nvSpPr>
          <p:cNvPr id="26" name="Text 19"/>
          <p:cNvSpPr/>
          <p:nvPr/>
        </p:nvSpPr>
        <p:spPr>
          <a:xfrm>
            <a:off x="7351776" y="299008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Payment</a:t>
            </a:r>
            <a:endParaRPr lang="en-US" sz="1350" dirty="0"/>
          </a:p>
        </p:txBody>
      </p:sp>
      <p:sp>
        <p:nvSpPr>
          <p:cNvPr id="27" name="Shape 20"/>
          <p:cNvSpPr/>
          <p:nvPr/>
        </p:nvSpPr>
        <p:spPr>
          <a:xfrm>
            <a:off x="9208008" y="2761488"/>
            <a:ext cx="329184" cy="146304"/>
          </a:xfrm>
          <a:prstGeom prst="rightArrow">
            <a:avLst/>
          </a:prstGeom>
          <a:solidFill>
            <a:srgbClr val="5C6B7A"/>
          </a:solidFill>
          <a:ln/>
        </p:spPr>
      </p:sp>
      <p:sp>
        <p:nvSpPr>
          <p:cNvPr id="28" name="Shape 21"/>
          <p:cNvSpPr/>
          <p:nvPr/>
        </p:nvSpPr>
        <p:spPr>
          <a:xfrm>
            <a:off x="9409176" y="214884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E8A33D"/>
          </a:solidFill>
          <a:ln/>
          <a:effectLst>
            <a:outerShdw sx="100000" sy="100000" kx="0" ky="0" algn="bl" rotWithShape="0" blurRad="101600" dist="38100" dir="2700000">
              <a:srgbClr val="0B1626">
                <a:alpha val="16000"/>
              </a:srgbClr>
            </a:outerShdw>
          </a:effectLst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36708" y="2313432"/>
            <a:ext cx="310896" cy="310896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9500616" y="26974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5</a:t>
            </a:r>
            <a:endParaRPr lang="en-US" sz="1100" dirty="0"/>
          </a:p>
        </p:txBody>
      </p:sp>
      <p:sp>
        <p:nvSpPr>
          <p:cNvPr id="31" name="Text 23"/>
          <p:cNvSpPr/>
          <p:nvPr/>
        </p:nvSpPr>
        <p:spPr>
          <a:xfrm>
            <a:off x="9500616" y="299008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</a:t>
            </a:r>
            <a:endParaRPr lang="en-US" sz="1350" dirty="0"/>
          </a:p>
        </p:txBody>
      </p:sp>
      <p:sp>
        <p:nvSpPr>
          <p:cNvPr id="32" name="Shape 24"/>
          <p:cNvSpPr/>
          <p:nvPr/>
        </p:nvSpPr>
        <p:spPr>
          <a:xfrm>
            <a:off x="813816" y="3931920"/>
            <a:ext cx="10561320" cy="1600200"/>
          </a:xfrm>
          <a:prstGeom prst="roundRect">
            <a:avLst>
              <a:gd name="adj" fmla="val 5714"/>
            </a:avLst>
          </a:prstGeom>
          <a:solidFill>
            <a:srgbClr val="12233A"/>
          </a:solidFill>
          <a:ln/>
        </p:spPr>
      </p:sp>
      <p:sp>
        <p:nvSpPr>
          <p:cNvPr id="33" name="Text 25"/>
          <p:cNvSpPr/>
          <p:nvPr/>
        </p:nvSpPr>
        <p:spPr>
          <a:xfrm>
            <a:off x="1179576" y="409651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Agile Team Structure</a:t>
            </a:r>
            <a:endParaRPr lang="en-US" sz="1500" dirty="0"/>
          </a:p>
        </p:txBody>
      </p:sp>
      <p:sp>
        <p:nvSpPr>
          <p:cNvPr id="34" name="Text 26"/>
          <p:cNvSpPr/>
          <p:nvPr/>
        </p:nvSpPr>
        <p:spPr>
          <a:xfrm>
            <a:off x="1179576" y="4480560"/>
            <a:ext cx="9829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→ Product Owner → Scrum Master → Developers → QA Testers → DevOps → Users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356" y="491764"/>
            <a:ext cx="351495" cy="35149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80160" y="56692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 &amp; Disadvantages of Agile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463040"/>
            <a:ext cx="5440680" cy="4709160"/>
          </a:xfrm>
          <a:prstGeom prst="roundRect">
            <a:avLst>
              <a:gd name="adj" fmla="val 1942"/>
            </a:avLst>
          </a:prstGeom>
          <a:solidFill>
            <a:srgbClr val="EAF3F0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1691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6E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</a:t>
            </a:r>
            <a:endParaRPr lang="en-US" sz="18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194560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88720" y="214884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delivery</a:t>
            </a:r>
            <a:endParaRPr lang="en-US" sz="13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578608"/>
            <a:ext cx="219456" cy="21945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88720" y="2532888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quality</a:t>
            </a:r>
            <a:endParaRPr lang="en-US" sz="13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2962656"/>
            <a:ext cx="219456" cy="21945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88720" y="2916936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 customers</a:t>
            </a:r>
            <a:endParaRPr lang="en-US" sz="13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3346704"/>
            <a:ext cx="219456" cy="21945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188720" y="3300984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bug detection</a:t>
            </a:r>
            <a:endParaRPr lang="en-US" sz="135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3730752"/>
            <a:ext cx="219456" cy="219456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1188720" y="3685032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project risk</a:t>
            </a:r>
            <a:endParaRPr lang="en-US" sz="1350" dirty="0"/>
          </a:p>
        </p:txBody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680" y="4114800"/>
            <a:ext cx="219456" cy="219456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1188720" y="406908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improvement</a:t>
            </a:r>
            <a:endParaRPr lang="en-US" sz="1350" dirty="0"/>
          </a:p>
        </p:txBody>
      </p:sp>
      <p:pic>
        <p:nvPicPr>
          <p:cNvPr id="2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8680" y="4498848"/>
            <a:ext cx="219456" cy="219456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1188720" y="4453128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requirements</a:t>
            </a:r>
            <a:endParaRPr lang="en-US" sz="1350" dirty="0"/>
          </a:p>
        </p:txBody>
      </p:sp>
      <p:pic>
        <p:nvPicPr>
          <p:cNvPr id="2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8680" y="4882896"/>
            <a:ext cx="219456" cy="219456"/>
          </a:xfrm>
          <a:prstGeom prst="rect">
            <a:avLst/>
          </a:prstGeom>
        </p:spPr>
      </p:pic>
      <p:sp>
        <p:nvSpPr>
          <p:cNvPr id="24" name="Text 13"/>
          <p:cNvSpPr/>
          <p:nvPr/>
        </p:nvSpPr>
        <p:spPr>
          <a:xfrm>
            <a:off x="1188720" y="4837176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transparency</a:t>
            </a:r>
            <a:endParaRPr lang="en-US" sz="1350" dirty="0"/>
          </a:p>
        </p:txBody>
      </p:sp>
      <p:sp>
        <p:nvSpPr>
          <p:cNvPr id="25" name="Shape 14"/>
          <p:cNvSpPr/>
          <p:nvPr/>
        </p:nvSpPr>
        <p:spPr>
          <a:xfrm>
            <a:off x="6172200" y="1463040"/>
            <a:ext cx="5440680" cy="4709160"/>
          </a:xfrm>
          <a:prstGeom prst="roundRect">
            <a:avLst>
              <a:gd name="adj" fmla="val 1942"/>
            </a:avLst>
          </a:prstGeom>
          <a:solidFill>
            <a:srgbClr val="FBEDEA"/>
          </a:solidFill>
          <a:ln/>
        </p:spPr>
      </p:sp>
      <p:sp>
        <p:nvSpPr>
          <p:cNvPr id="26" name="Text 15"/>
          <p:cNvSpPr/>
          <p:nvPr/>
        </p:nvSpPr>
        <p:spPr>
          <a:xfrm>
            <a:off x="6492240" y="1691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13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Disadvantages</a:t>
            </a:r>
            <a:endParaRPr lang="en-US" sz="1800" dirty="0"/>
          </a:p>
        </p:txBody>
      </p:sp>
      <p:pic>
        <p:nvPicPr>
          <p:cNvPr id="2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92240" y="2194560"/>
            <a:ext cx="219456" cy="219456"/>
          </a:xfrm>
          <a:prstGeom prst="rect">
            <a:avLst/>
          </a:prstGeom>
        </p:spPr>
      </p:pic>
      <p:sp>
        <p:nvSpPr>
          <p:cNvPr id="28" name="Text 16"/>
          <p:cNvSpPr/>
          <p:nvPr/>
        </p:nvSpPr>
        <p:spPr>
          <a:xfrm>
            <a:off x="6812280" y="212140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meetings required</a:t>
            </a:r>
            <a:endParaRPr lang="en-US" sz="1350" dirty="0"/>
          </a:p>
        </p:txBody>
      </p:sp>
      <p:pic>
        <p:nvPicPr>
          <p:cNvPr id="29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92240" y="2697480"/>
            <a:ext cx="219456" cy="219456"/>
          </a:xfrm>
          <a:prstGeom prst="rect">
            <a:avLst/>
          </a:prstGeom>
        </p:spPr>
      </p:pic>
      <p:sp>
        <p:nvSpPr>
          <p:cNvPr id="30" name="Text 17"/>
          <p:cNvSpPr/>
          <p:nvPr/>
        </p:nvSpPr>
        <p:spPr>
          <a:xfrm>
            <a:off x="6812280" y="262432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must stay available</a:t>
            </a:r>
            <a:endParaRPr lang="en-US" sz="1350" dirty="0"/>
          </a:p>
        </p:txBody>
      </p:sp>
      <p:pic>
        <p:nvPicPr>
          <p:cNvPr id="31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92240" y="3200400"/>
            <a:ext cx="219456" cy="219456"/>
          </a:xfrm>
          <a:prstGeom prst="rect">
            <a:avLst/>
          </a:prstGeom>
        </p:spPr>
      </p:pic>
      <p:sp>
        <p:nvSpPr>
          <p:cNvPr id="32" name="Text 18"/>
          <p:cNvSpPr/>
          <p:nvPr/>
        </p:nvSpPr>
        <p:spPr>
          <a:xfrm>
            <a:off x="6812280" y="312724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may change often</a:t>
            </a:r>
            <a:endParaRPr lang="en-US" sz="1350" dirty="0"/>
          </a:p>
        </p:txBody>
      </p:sp>
      <p:pic>
        <p:nvPicPr>
          <p:cNvPr id="33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92240" y="3703320"/>
            <a:ext cx="219456" cy="219456"/>
          </a:xfrm>
          <a:prstGeom prst="rect">
            <a:avLst/>
          </a:prstGeom>
        </p:spPr>
      </p:pic>
      <p:sp>
        <p:nvSpPr>
          <p:cNvPr id="34" name="Text 19"/>
          <p:cNvSpPr/>
          <p:nvPr/>
        </p:nvSpPr>
        <p:spPr>
          <a:xfrm>
            <a:off x="6812280" y="363016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for large, fixed-scope projects</a:t>
            </a:r>
            <a:endParaRPr lang="en-US" sz="1350" dirty="0"/>
          </a:p>
        </p:txBody>
      </p:sp>
      <p:pic>
        <p:nvPicPr>
          <p:cNvPr id="3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92240" y="4206240"/>
            <a:ext cx="219456" cy="219456"/>
          </a:xfrm>
          <a:prstGeom prst="rect">
            <a:avLst/>
          </a:prstGeom>
        </p:spPr>
      </p:pic>
      <p:sp>
        <p:nvSpPr>
          <p:cNvPr id="36" name="Text 20"/>
          <p:cNvSpPr/>
          <p:nvPr/>
        </p:nvSpPr>
        <p:spPr>
          <a:xfrm>
            <a:off x="6812280" y="413308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an experienced team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356" y="491764"/>
            <a:ext cx="351495" cy="35149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80160" y="56692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Industries &amp; Tools Using Agile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13258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Industries Using Agile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1828800"/>
            <a:ext cx="1020470" cy="402336"/>
          </a:xfrm>
          <a:prstGeom prst="roundRect">
            <a:avLst>
              <a:gd name="adj" fmla="val 50000"/>
            </a:avLst>
          </a:prstGeom>
          <a:solidFill>
            <a:srgbClr val="F2F6F8"/>
          </a:solidFill>
          <a:ln w="12700">
            <a:solidFill>
              <a:srgbClr val="D6DEE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1828800"/>
            <a:ext cx="10204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1706270" y="1828800"/>
            <a:ext cx="1261872" cy="402336"/>
          </a:xfrm>
          <a:prstGeom prst="roundRect">
            <a:avLst>
              <a:gd name="adj" fmla="val 50000"/>
            </a:avLst>
          </a:prstGeom>
          <a:solidFill>
            <a:srgbClr val="F2F6F8"/>
          </a:solidFill>
          <a:ln w="12700">
            <a:solidFill>
              <a:srgbClr val="D6DEE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706270" y="1828800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105302" y="1828800"/>
            <a:ext cx="1261872" cy="402336"/>
          </a:xfrm>
          <a:prstGeom prst="roundRect">
            <a:avLst>
              <a:gd name="adj" fmla="val 50000"/>
            </a:avLst>
          </a:prstGeom>
          <a:solidFill>
            <a:srgbClr val="F2F6F8"/>
          </a:solidFill>
          <a:ln w="12700">
            <a:solidFill>
              <a:srgbClr val="D6DEE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105302" y="1828800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504334" y="1828800"/>
            <a:ext cx="1020470" cy="402336"/>
          </a:xfrm>
          <a:prstGeom prst="roundRect">
            <a:avLst>
              <a:gd name="adj" fmla="val 50000"/>
            </a:avLst>
          </a:prstGeom>
          <a:solidFill>
            <a:srgbClr val="F2F6F8"/>
          </a:solidFill>
          <a:ln w="12700">
            <a:solidFill>
              <a:srgbClr val="D6DEE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04334" y="1828800"/>
            <a:ext cx="10204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48640" y="2331720"/>
            <a:ext cx="940003" cy="402336"/>
          </a:xfrm>
          <a:prstGeom prst="roundRect">
            <a:avLst>
              <a:gd name="adj" fmla="val 50000"/>
            </a:avLst>
          </a:prstGeom>
          <a:solidFill>
            <a:srgbClr val="F2F6F8"/>
          </a:solidFill>
          <a:ln w="12700">
            <a:solidFill>
              <a:srgbClr val="D6DEE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48640" y="2331720"/>
            <a:ext cx="94000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Gaming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1625803" y="2331720"/>
            <a:ext cx="2307946" cy="402336"/>
          </a:xfrm>
          <a:prstGeom prst="roundRect">
            <a:avLst>
              <a:gd name="adj" fmla="val 50000"/>
            </a:avLst>
          </a:prstGeom>
          <a:solidFill>
            <a:srgbClr val="F2F6F8"/>
          </a:solidFill>
          <a:ln w="12700">
            <a:solidFill>
              <a:srgbClr val="D6DEE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625803" y="2331720"/>
            <a:ext cx="230794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070909" y="2331720"/>
            <a:ext cx="1664208" cy="402336"/>
          </a:xfrm>
          <a:prstGeom prst="roundRect">
            <a:avLst>
              <a:gd name="adj" fmla="val 50000"/>
            </a:avLst>
          </a:prstGeom>
          <a:solidFill>
            <a:srgbClr val="F2F6F8"/>
          </a:solidFill>
          <a:ln w="12700">
            <a:solidFill>
              <a:srgbClr val="D6DEE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070909" y="2331720"/>
            <a:ext cx="1664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Computing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48640" y="2834640"/>
            <a:ext cx="1261872" cy="402336"/>
          </a:xfrm>
          <a:prstGeom prst="roundRect">
            <a:avLst>
              <a:gd name="adj" fmla="val 50000"/>
            </a:avLst>
          </a:prstGeom>
          <a:solidFill>
            <a:srgbClr val="F2F6F8"/>
          </a:solidFill>
          <a:ln w="12700">
            <a:solidFill>
              <a:srgbClr val="D6DEE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48640" y="2834640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1947672" y="2834640"/>
            <a:ext cx="1181405" cy="402336"/>
          </a:xfrm>
          <a:prstGeom prst="roundRect">
            <a:avLst>
              <a:gd name="adj" fmla="val 50000"/>
            </a:avLst>
          </a:prstGeom>
          <a:solidFill>
            <a:srgbClr val="F2F6F8"/>
          </a:solidFill>
          <a:ln w="12700">
            <a:solidFill>
              <a:srgbClr val="D6DEE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947672" y="2834640"/>
            <a:ext cx="118140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3266237" y="2834640"/>
            <a:ext cx="1100938" cy="402336"/>
          </a:xfrm>
          <a:prstGeom prst="roundRect">
            <a:avLst>
              <a:gd name="adj" fmla="val 50000"/>
            </a:avLst>
          </a:prstGeom>
          <a:solidFill>
            <a:srgbClr val="F2F6F8"/>
          </a:solidFill>
          <a:ln w="12700">
            <a:solidFill>
              <a:srgbClr val="D6DEE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266237" y="2834640"/>
            <a:ext cx="110093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Startups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6355080" y="13258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Popular Agile Tools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6355080" y="182880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3E9EE"/>
            </a:solidFill>
            <a:prstDash val="solid"/>
          </a:ln>
          <a:effectLst>
            <a:outerShdw sx="100000" sy="100000" kx="0" ky="0" algn="bl" rotWithShape="0" blurRad="101600" dist="38100" dir="2700000">
              <a:srgbClr val="0B1626">
                <a:alpha val="16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6519672" y="1920240"/>
            <a:ext cx="2276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6519672" y="2267712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&amp; backlog management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9098280" y="182880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3E9EE"/>
            </a:solidFill>
            <a:prstDash val="solid"/>
          </a:ln>
          <a:effectLst>
            <a:outerShdw sx="100000" sy="100000" kx="0" ky="0" algn="bl" rotWithShape="0" blurRad="101600" dist="38100" dir="2700000">
              <a:srgbClr val="0B1626">
                <a:alpha val="16000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9262872" y="1920240"/>
            <a:ext cx="2276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Trello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9262872" y="2267712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Kanban boards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6355080" y="2807208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3E9EE"/>
            </a:solidFill>
            <a:prstDash val="solid"/>
          </a:ln>
          <a:effectLst>
            <a:outerShdw sx="100000" sy="100000" kx="0" ky="0" algn="bl" rotWithShape="0" blurRad="101600" dist="38100" dir="2700000">
              <a:srgbClr val="0B1626">
                <a:alpha val="16000"/>
              </a:srgbClr>
            </a:outerShdw>
          </a:effectLst>
        </p:spPr>
      </p:sp>
      <p:sp>
        <p:nvSpPr>
          <p:cNvPr id="36" name="Text 33"/>
          <p:cNvSpPr/>
          <p:nvPr/>
        </p:nvSpPr>
        <p:spPr>
          <a:xfrm>
            <a:off x="6519672" y="2898648"/>
            <a:ext cx="2276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DevOps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6519672" y="3246120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Planning, code, CI/CD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9098280" y="2807208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3E9EE"/>
            </a:solidFill>
            <a:prstDash val="solid"/>
          </a:ln>
          <a:effectLst>
            <a:outerShdw sx="100000" sy="100000" kx="0" ky="0" algn="bl" rotWithShape="0" blurRad="101600" dist="38100" dir="2700000">
              <a:srgbClr val="0B1626">
                <a:alpha val="16000"/>
              </a:srgbClr>
            </a:outerShdw>
          </a:effectLst>
        </p:spPr>
      </p:sp>
      <p:sp>
        <p:nvSpPr>
          <p:cNvPr id="39" name="Text 36"/>
          <p:cNvSpPr/>
          <p:nvPr/>
        </p:nvSpPr>
        <p:spPr>
          <a:xfrm>
            <a:off x="9262872" y="2898648"/>
            <a:ext cx="2276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Asana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9262872" y="3246120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management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6355080" y="3785616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3E9EE"/>
            </a:solidFill>
            <a:prstDash val="solid"/>
          </a:ln>
          <a:effectLst>
            <a:outerShdw sx="100000" sy="100000" kx="0" ky="0" algn="bl" rotWithShape="0" blurRad="101600" dist="38100" dir="2700000">
              <a:srgbClr val="0B1626">
                <a:alpha val="16000"/>
              </a:srgbClr>
            </a:outerShdw>
          </a:effectLst>
        </p:spPr>
      </p:sp>
      <p:sp>
        <p:nvSpPr>
          <p:cNvPr id="42" name="Text 39"/>
          <p:cNvSpPr/>
          <p:nvPr/>
        </p:nvSpPr>
        <p:spPr>
          <a:xfrm>
            <a:off x="6519672" y="3877056"/>
            <a:ext cx="2276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Monday.com</a:t>
            </a:r>
            <a:endParaRPr lang="en-US" sz="1300" dirty="0"/>
          </a:p>
        </p:txBody>
      </p:sp>
      <p:sp>
        <p:nvSpPr>
          <p:cNvPr id="43" name="Text 40"/>
          <p:cNvSpPr/>
          <p:nvPr/>
        </p:nvSpPr>
        <p:spPr>
          <a:xfrm>
            <a:off x="6519672" y="4224528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management</a:t>
            </a:r>
            <a:endParaRPr lang="en-US" sz="1050" dirty="0"/>
          </a:p>
        </p:txBody>
      </p:sp>
      <p:sp>
        <p:nvSpPr>
          <p:cNvPr id="44" name="Shape 41"/>
          <p:cNvSpPr/>
          <p:nvPr/>
        </p:nvSpPr>
        <p:spPr>
          <a:xfrm>
            <a:off x="9098280" y="3785616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3E9EE"/>
            </a:solidFill>
            <a:prstDash val="solid"/>
          </a:ln>
          <a:effectLst>
            <a:outerShdw sx="100000" sy="100000" kx="0" ky="0" algn="bl" rotWithShape="0" blurRad="101600" dist="38100" dir="2700000">
              <a:srgbClr val="0B1626">
                <a:alpha val="16000"/>
              </a:srgbClr>
            </a:outerShdw>
          </a:effectLst>
        </p:spPr>
      </p:sp>
      <p:sp>
        <p:nvSpPr>
          <p:cNvPr id="45" name="Text 42"/>
          <p:cNvSpPr/>
          <p:nvPr/>
        </p:nvSpPr>
        <p:spPr>
          <a:xfrm>
            <a:off x="9262872" y="3877056"/>
            <a:ext cx="2276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/ GitLab</a:t>
            </a:r>
            <a:endParaRPr lang="en-US" sz="1300" dirty="0"/>
          </a:p>
        </p:txBody>
      </p:sp>
      <p:sp>
        <p:nvSpPr>
          <p:cNvPr id="46" name="Text 43"/>
          <p:cNvSpPr/>
          <p:nvPr/>
        </p:nvSpPr>
        <p:spPr>
          <a:xfrm>
            <a:off x="9262872" y="4224528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 + CI/CD</a:t>
            </a:r>
            <a:endParaRPr lang="en-US" sz="1050" dirty="0"/>
          </a:p>
        </p:txBody>
      </p:sp>
      <p:sp>
        <p:nvSpPr>
          <p:cNvPr id="47" name="Shape 44"/>
          <p:cNvSpPr/>
          <p:nvPr/>
        </p:nvSpPr>
        <p:spPr>
          <a:xfrm>
            <a:off x="548640" y="4892040"/>
            <a:ext cx="11064240" cy="0"/>
          </a:xfrm>
          <a:prstGeom prst="line">
            <a:avLst/>
          </a:prstGeom>
          <a:noFill/>
          <a:ln w="12700">
            <a:solidFill>
              <a:srgbClr val="E3E9EE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548640" y="51206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Timeline Recap: Week 1 — Planning &amp; coding starts  •  Week 2 — Development &amp; testing  •  Week 3 — Demo, review, retrospective, next Sprint begins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356" y="491764"/>
            <a:ext cx="351495" cy="35149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80160" y="56692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Agile Interview Questions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16636" y="1508760"/>
            <a:ext cx="5440680" cy="621792"/>
          </a:xfrm>
          <a:prstGeom prst="roundRect">
            <a:avLst>
              <a:gd name="adj" fmla="val 11765"/>
            </a:avLst>
          </a:prstGeom>
          <a:solidFill>
            <a:srgbClr val="F2F6F8"/>
          </a:solidFill>
          <a:ln w="12700">
            <a:solidFill>
              <a:srgbClr val="E3E9E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4652" y="1627632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6"/>
          <p:cNvSpPr/>
          <p:nvPr/>
        </p:nvSpPr>
        <p:spPr>
          <a:xfrm>
            <a:off x="644652" y="1627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138428" y="1508760"/>
            <a:ext cx="4663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Agile?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231636" y="1508760"/>
            <a:ext cx="5440680" cy="621792"/>
          </a:xfrm>
          <a:prstGeom prst="roundRect">
            <a:avLst>
              <a:gd name="adj" fmla="val 11765"/>
            </a:avLst>
          </a:prstGeom>
          <a:solidFill>
            <a:srgbClr val="F2F6F8"/>
          </a:solidFill>
          <a:ln w="12700">
            <a:solidFill>
              <a:srgbClr val="E3E9E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359652" y="1627632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0"/>
          <p:cNvSpPr/>
          <p:nvPr/>
        </p:nvSpPr>
        <p:spPr>
          <a:xfrm>
            <a:off x="6359652" y="1627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853428" y="1508760"/>
            <a:ext cx="4663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Agile over Waterfall?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16636" y="2258568"/>
            <a:ext cx="54406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3E9E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44652" y="237744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4"/>
          <p:cNvSpPr/>
          <p:nvPr/>
        </p:nvSpPr>
        <p:spPr>
          <a:xfrm>
            <a:off x="644652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138428" y="2258568"/>
            <a:ext cx="4663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Scrum?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6231636" y="2258568"/>
            <a:ext cx="54406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3E9EE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359652" y="237744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8"/>
          <p:cNvSpPr/>
          <p:nvPr/>
        </p:nvSpPr>
        <p:spPr>
          <a:xfrm>
            <a:off x="6359652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853428" y="2258568"/>
            <a:ext cx="4663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 between Scrum and Agile?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516636" y="3008376"/>
            <a:ext cx="5440680" cy="621792"/>
          </a:xfrm>
          <a:prstGeom prst="roundRect">
            <a:avLst>
              <a:gd name="adj" fmla="val 11765"/>
            </a:avLst>
          </a:prstGeom>
          <a:solidFill>
            <a:srgbClr val="F2F6F8"/>
          </a:solidFill>
          <a:ln w="12700">
            <a:solidFill>
              <a:srgbClr val="E3E9EE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44652" y="3127248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Text 22"/>
          <p:cNvSpPr/>
          <p:nvPr/>
        </p:nvSpPr>
        <p:spPr>
          <a:xfrm>
            <a:off x="644652" y="3127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1138428" y="3008376"/>
            <a:ext cx="4663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Sprint?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6231636" y="3008376"/>
            <a:ext cx="5440680" cy="621792"/>
          </a:xfrm>
          <a:prstGeom prst="roundRect">
            <a:avLst>
              <a:gd name="adj" fmla="val 11765"/>
            </a:avLst>
          </a:prstGeom>
          <a:solidFill>
            <a:srgbClr val="F2F6F8"/>
          </a:solidFill>
          <a:ln w="12700">
            <a:solidFill>
              <a:srgbClr val="E3E9EE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359652" y="3127248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9" name="Text 26"/>
          <p:cNvSpPr/>
          <p:nvPr/>
        </p:nvSpPr>
        <p:spPr>
          <a:xfrm>
            <a:off x="6359652" y="3127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6853428" y="3008376"/>
            <a:ext cx="4663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Product Backlog?</a:t>
            </a:r>
            <a:endParaRPr lang="en-US" sz="1250" dirty="0"/>
          </a:p>
        </p:txBody>
      </p:sp>
      <p:sp>
        <p:nvSpPr>
          <p:cNvPr id="31" name="Shape 28"/>
          <p:cNvSpPr/>
          <p:nvPr/>
        </p:nvSpPr>
        <p:spPr>
          <a:xfrm>
            <a:off x="516636" y="3758184"/>
            <a:ext cx="54406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3E9EE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44652" y="3877056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3" name="Text 30"/>
          <p:cNvSpPr/>
          <p:nvPr/>
        </p:nvSpPr>
        <p:spPr>
          <a:xfrm>
            <a:off x="644652" y="3877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1138428" y="3758184"/>
            <a:ext cx="4663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Sprint Backlog?</a:t>
            </a: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6231636" y="3758184"/>
            <a:ext cx="54406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3E9EE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359652" y="3877056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7" name="Text 34"/>
          <p:cNvSpPr/>
          <p:nvPr/>
        </p:nvSpPr>
        <p:spPr>
          <a:xfrm>
            <a:off x="6359652" y="3877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6853428" y="3758184"/>
            <a:ext cx="4663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Daily Scrum.</a:t>
            </a:r>
            <a:endParaRPr lang="en-US" sz="1250" dirty="0"/>
          </a:p>
        </p:txBody>
      </p:sp>
      <p:sp>
        <p:nvSpPr>
          <p:cNvPr id="39" name="Shape 36"/>
          <p:cNvSpPr/>
          <p:nvPr/>
        </p:nvSpPr>
        <p:spPr>
          <a:xfrm>
            <a:off x="516636" y="4507992"/>
            <a:ext cx="5440680" cy="621792"/>
          </a:xfrm>
          <a:prstGeom prst="roundRect">
            <a:avLst>
              <a:gd name="adj" fmla="val 11765"/>
            </a:avLst>
          </a:prstGeom>
          <a:solidFill>
            <a:srgbClr val="F2F6F8"/>
          </a:solidFill>
          <a:ln w="12700">
            <a:solidFill>
              <a:srgbClr val="E3E9EE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644652" y="4626864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1" name="Text 38"/>
          <p:cNvSpPr/>
          <p:nvPr/>
        </p:nvSpPr>
        <p:spPr>
          <a:xfrm>
            <a:off x="644652" y="4626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42" name="Text 39"/>
          <p:cNvSpPr/>
          <p:nvPr/>
        </p:nvSpPr>
        <p:spPr>
          <a:xfrm>
            <a:off x="1138428" y="4507992"/>
            <a:ext cx="4663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in Scrum?</a:t>
            </a:r>
            <a:endParaRPr lang="en-US" sz="1250" dirty="0"/>
          </a:p>
        </p:txBody>
      </p:sp>
      <p:sp>
        <p:nvSpPr>
          <p:cNvPr id="43" name="Shape 40"/>
          <p:cNvSpPr/>
          <p:nvPr/>
        </p:nvSpPr>
        <p:spPr>
          <a:xfrm>
            <a:off x="6231636" y="4507992"/>
            <a:ext cx="5440680" cy="621792"/>
          </a:xfrm>
          <a:prstGeom prst="roundRect">
            <a:avLst>
              <a:gd name="adj" fmla="val 11765"/>
            </a:avLst>
          </a:prstGeom>
          <a:solidFill>
            <a:srgbClr val="F2F6F8"/>
          </a:solidFill>
          <a:ln w="12700">
            <a:solidFill>
              <a:srgbClr val="E3E9EE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6359652" y="4626864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5" name="Text 42"/>
          <p:cNvSpPr/>
          <p:nvPr/>
        </p:nvSpPr>
        <p:spPr>
          <a:xfrm>
            <a:off x="6359652" y="4626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46" name="Text 43"/>
          <p:cNvSpPr/>
          <p:nvPr/>
        </p:nvSpPr>
        <p:spPr>
          <a:xfrm>
            <a:off x="6853428" y="4507992"/>
            <a:ext cx="4663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 vs Scrum — what's the difference?</a:t>
            </a:r>
            <a:endParaRPr lang="en-US" sz="1250" dirty="0"/>
          </a:p>
        </p:txBody>
      </p:sp>
      <p:sp>
        <p:nvSpPr>
          <p:cNvPr id="47" name="Shape 44"/>
          <p:cNvSpPr/>
          <p:nvPr/>
        </p:nvSpPr>
        <p:spPr>
          <a:xfrm>
            <a:off x="516636" y="5257800"/>
            <a:ext cx="54406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3E9EE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644652" y="5376672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9" name="Text 46"/>
          <p:cNvSpPr/>
          <p:nvPr/>
        </p:nvSpPr>
        <p:spPr>
          <a:xfrm>
            <a:off x="644652" y="5376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00" dirty="0"/>
          </a:p>
        </p:txBody>
      </p:sp>
      <p:sp>
        <p:nvSpPr>
          <p:cNvPr id="50" name="Text 47"/>
          <p:cNvSpPr/>
          <p:nvPr/>
        </p:nvSpPr>
        <p:spPr>
          <a:xfrm>
            <a:off x="1138428" y="5257800"/>
            <a:ext cx="4663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Agile Manifesto.</a:t>
            </a:r>
            <a:endParaRPr lang="en-US" sz="1250" dirty="0"/>
          </a:p>
        </p:txBody>
      </p:sp>
      <p:sp>
        <p:nvSpPr>
          <p:cNvPr id="51" name="Shape 48"/>
          <p:cNvSpPr/>
          <p:nvPr/>
        </p:nvSpPr>
        <p:spPr>
          <a:xfrm>
            <a:off x="6231636" y="5257800"/>
            <a:ext cx="54406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3E9EE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6359652" y="5376672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3" name="Text 50"/>
          <p:cNvSpPr/>
          <p:nvPr/>
        </p:nvSpPr>
        <p:spPr>
          <a:xfrm>
            <a:off x="6359652" y="5376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dirty="0"/>
          </a:p>
        </p:txBody>
      </p:sp>
      <p:sp>
        <p:nvSpPr>
          <p:cNvPr id="54" name="Text 51"/>
          <p:cNvSpPr/>
          <p:nvPr/>
        </p:nvSpPr>
        <p:spPr>
          <a:xfrm>
            <a:off x="6853428" y="5257800"/>
            <a:ext cx="4663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Velocity, User Story, Epic &amp; Definition of Done?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2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377440"/>
            <a:ext cx="5486400" cy="54864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85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" y="100584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Agile in a Nutshell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22960" y="2057400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2130552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2002536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is an iterative approach — small pieces, delivered frequently.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822960" y="2752344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2825496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71600" y="2697480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emphasizes customer collaboration, adaptability, and working software.</a:t>
            </a:r>
            <a:endParaRPr lang="en-US" sz="1550" dirty="0"/>
          </a:p>
        </p:txBody>
      </p:sp>
      <p:sp>
        <p:nvSpPr>
          <p:cNvPr id="11" name="Shape 7"/>
          <p:cNvSpPr/>
          <p:nvPr/>
        </p:nvSpPr>
        <p:spPr>
          <a:xfrm>
            <a:off x="822960" y="3447288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3520440"/>
            <a:ext cx="219456" cy="21945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71600" y="3392424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is the most widely used Agile framework in the industry.</a:t>
            </a:r>
            <a:endParaRPr lang="en-US" sz="1550" dirty="0"/>
          </a:p>
        </p:txBody>
      </p:sp>
      <p:sp>
        <p:nvSpPr>
          <p:cNvPr id="14" name="Shape 9"/>
          <p:cNvSpPr/>
          <p:nvPr/>
        </p:nvSpPr>
        <p:spPr>
          <a:xfrm>
            <a:off x="822960" y="4142232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4215384"/>
            <a:ext cx="219456" cy="21945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371600" y="408736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is now the standard, because it reduces risk and speeds up value delivery.</a:t>
            </a:r>
            <a:endParaRPr lang="en-US" sz="1550" dirty="0"/>
          </a:p>
        </p:txBody>
      </p:sp>
      <p:sp>
        <p:nvSpPr>
          <p:cNvPr id="17" name="Shape 11"/>
          <p:cNvSpPr/>
          <p:nvPr/>
        </p:nvSpPr>
        <p:spPr>
          <a:xfrm>
            <a:off x="822960" y="4837176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" y="4910328"/>
            <a:ext cx="219456" cy="21945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371600" y="4782312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depends on communication, continuous feedback, and regular improvement.</a:t>
            </a:r>
            <a:endParaRPr lang="en-US" sz="1550" dirty="0"/>
          </a:p>
        </p:txBody>
      </p:sp>
      <p:sp>
        <p:nvSpPr>
          <p:cNvPr id="20" name="Text 13"/>
          <p:cNvSpPr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 welcome.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Agile Methodology</dc:title>
  <dc:subject>PptxGenJS Presentation</dc:subject>
  <dc:creator>Agile Training</dc:creator>
  <cp:lastModifiedBy>Agile Training</cp:lastModifiedBy>
  <cp:revision>1</cp:revision>
  <dcterms:created xsi:type="dcterms:W3CDTF">2026-07-07T07:55:53Z</dcterms:created>
  <dcterms:modified xsi:type="dcterms:W3CDTF">2026-07-07T07:55:53Z</dcterms:modified>
</cp:coreProperties>
</file>